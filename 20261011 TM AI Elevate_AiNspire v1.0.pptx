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2" r:id="rId2"/>
    <p:sldId id="256"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046" autoAdjust="0"/>
  </p:normalViewPr>
  <p:slideViewPr>
    <p:cSldViewPr snapToGrid="0">
      <p:cViewPr varScale="1">
        <p:scale>
          <a:sx n="49" d="100"/>
          <a:sy n="49" d="100"/>
        </p:scale>
        <p:origin x="12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D6DC1E-405C-4F7F-B214-824EEC70A8E9}" type="datetimeFigureOut">
              <a:rPr lang="en-MY" smtClean="0"/>
              <a:t>11/10/2026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353E79-A47C-4926-8051-8D74BCE7BF47}" type="slidenum">
              <a:rPr lang="en-MY" smtClean="0"/>
              <a:t>‹#›</a:t>
            </a:fld>
            <a:endParaRPr lang="en-MY"/>
          </a:p>
        </p:txBody>
      </p:sp>
    </p:spTree>
    <p:extLst>
      <p:ext uri="{BB962C8B-B14F-4D97-AF65-F5344CB8AC3E}">
        <p14:creationId xmlns:p14="http://schemas.microsoft.com/office/powerpoint/2010/main" val="3471008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What judges look for</a:t>
            </a:r>
          </a:p>
          <a:p>
            <a:r>
              <a:rPr lang="en-MY" dirty="0"/>
              <a:t>Empathy and relevance at Slide 1 — Human-centred problem</a:t>
            </a:r>
          </a:p>
          <a:p>
            <a:r>
              <a:rPr lang="en-MY" dirty="0"/>
              <a:t>Business problem and opportunity at Slide 2 — Why </a:t>
            </a:r>
            <a:r>
              <a:rPr lang="en-MY" dirty="0" err="1"/>
              <a:t>AiNspire</a:t>
            </a:r>
            <a:endParaRPr lang="en-MY" dirty="0"/>
          </a:p>
          <a:p>
            <a:r>
              <a:rPr lang="en-MY" dirty="0"/>
              <a:t>Working prototype and technical innovation at Slide 3 — Live demonstration</a:t>
            </a:r>
          </a:p>
          <a:p>
            <a:r>
              <a:rPr lang="en-MY" dirty="0"/>
              <a:t>Tangible business value and Responsible AI at Slide 4 — Stakeholder outcomes</a:t>
            </a:r>
          </a:p>
          <a:p>
            <a:r>
              <a:rPr lang="en-MY" dirty="0"/>
              <a:t>Scalability and future enhancements at Slide 5 — Vision and roadmap</a:t>
            </a:r>
          </a:p>
          <a:p>
            <a:endParaRPr lang="en-MY" dirty="0"/>
          </a:p>
          <a:p>
            <a:r>
              <a:rPr lang="en-MY" dirty="0"/>
              <a:t>The opening and closing should form one continuous story.</a:t>
            </a:r>
          </a:p>
          <a:p>
            <a:r>
              <a:rPr lang="en-MY" dirty="0"/>
              <a:t>Opening: Two employees. Different AI readiness. The same training.</a:t>
            </a:r>
          </a:p>
          <a:p>
            <a:r>
              <a:rPr lang="en-MY" dirty="0"/>
              <a:t>Closing: Two employees. Different AI readiness. Personalised opportunities to grow.</a:t>
            </a:r>
          </a:p>
          <a:p>
            <a:r>
              <a:rPr lang="en-MY" dirty="0"/>
              <a:t>That symmetry gives the judges a human story to remember, rather than just another technology demonstration.</a:t>
            </a:r>
          </a:p>
          <a:p>
            <a:endParaRPr lang="en-MY" dirty="0"/>
          </a:p>
        </p:txBody>
      </p:sp>
      <p:sp>
        <p:nvSpPr>
          <p:cNvPr id="4" name="Slide Number Placeholder 3"/>
          <p:cNvSpPr>
            <a:spLocks noGrp="1"/>
          </p:cNvSpPr>
          <p:nvPr>
            <p:ph type="sldNum" sz="quarter" idx="5"/>
          </p:nvPr>
        </p:nvSpPr>
        <p:spPr/>
        <p:txBody>
          <a:bodyPr/>
          <a:lstStyle/>
          <a:p>
            <a:fld id="{FE353E79-A47C-4926-8051-8D74BCE7BF47}" type="slidenum">
              <a:rPr lang="en-MY" smtClean="0"/>
              <a:t>1</a:t>
            </a:fld>
            <a:endParaRPr lang="en-MY"/>
          </a:p>
        </p:txBody>
      </p:sp>
    </p:spTree>
    <p:extLst>
      <p:ext uri="{BB962C8B-B14F-4D97-AF65-F5344CB8AC3E}">
        <p14:creationId xmlns:p14="http://schemas.microsoft.com/office/powerpoint/2010/main" val="779397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MY" dirty="0"/>
              <a:t>Good morning, judges. Before I introduce </a:t>
            </a:r>
            <a:r>
              <a:rPr lang="en-MY" dirty="0" err="1"/>
              <a:t>AiNspire</a:t>
            </a:r>
            <a:r>
              <a:rPr lang="en-MY" dirty="0"/>
              <a:t>, let me ask you one question. </a:t>
            </a:r>
            <a:r>
              <a:rPr lang="en-MY" b="1" dirty="0"/>
              <a:t>What if the biggest risk of AI transformation isn't technology… but leaving our people behind?</a:t>
            </a:r>
          </a:p>
          <a:p>
            <a:pPr marL="228600" indent="-228600">
              <a:buFont typeface="+mj-lt"/>
              <a:buAutoNum type="arabicPeriod"/>
            </a:pPr>
            <a:endParaRPr lang="en-MY" b="1" dirty="0"/>
          </a:p>
          <a:p>
            <a:pPr marL="228600" indent="-228600">
              <a:buFont typeface="+mj-lt"/>
              <a:buAutoNum type="arabicPeriod"/>
            </a:pPr>
            <a:r>
              <a:rPr lang="en-MY" dirty="0"/>
              <a:t>Imagine two employees. One is already confident using AI. The other is still figuring out where to begin. Yet both attend the same AI training. For one, it's too basic. For the other, it's overwhelming. </a:t>
            </a:r>
            <a:r>
              <a:rPr lang="en-MY" b="1" dirty="0"/>
              <a:t>Same training. Different readiness. Different outcomes.</a:t>
            </a:r>
          </a:p>
          <a:p>
            <a:pPr marL="228600" indent="-228600">
              <a:buFont typeface="+mj-lt"/>
              <a:buAutoNum type="arabicPeriod"/>
            </a:pPr>
            <a:endParaRPr lang="en-MY" b="1" dirty="0"/>
          </a:p>
          <a:p>
            <a:pPr marL="228600" indent="-228600">
              <a:buFont typeface="+mj-lt"/>
              <a:buAutoNum type="arabicPeriod"/>
            </a:pPr>
            <a:r>
              <a:rPr lang="en-MY" dirty="0"/>
              <a:t>Now imagine this challenge across thousands of employees. That's the human problem we want to solve with </a:t>
            </a:r>
            <a:r>
              <a:rPr lang="en-MY" dirty="0" err="1"/>
              <a:t>AiNspire</a:t>
            </a:r>
            <a:r>
              <a:rPr lang="en-MY" dirty="0"/>
              <a:t>.</a:t>
            </a:r>
          </a:p>
          <a:p>
            <a:endParaRPr lang="en-MY" b="1" dirty="0"/>
          </a:p>
          <a:p>
            <a:r>
              <a:rPr lang="en-MY" b="1" dirty="0"/>
              <a:t>Transition → Slide 2</a:t>
            </a:r>
            <a:endParaRPr lang="en-MY" dirty="0"/>
          </a:p>
          <a:p>
            <a:r>
              <a:rPr lang="en-MY" dirty="0"/>
              <a:t>And it leads us to a fundamental question: </a:t>
            </a:r>
            <a:r>
              <a:rPr lang="en-MY" b="1" dirty="0"/>
              <a:t>How can we develop our people if we don't first understand their readiness?</a:t>
            </a:r>
            <a:endParaRPr lang="en-MY" dirty="0"/>
          </a:p>
          <a:p>
            <a:endParaRPr lang="en-MY" dirty="0"/>
          </a:p>
          <a:p>
            <a:endParaRPr lang="en-MY" dirty="0"/>
          </a:p>
        </p:txBody>
      </p:sp>
      <p:sp>
        <p:nvSpPr>
          <p:cNvPr id="4" name="Slide Number Placeholder 3"/>
          <p:cNvSpPr>
            <a:spLocks noGrp="1"/>
          </p:cNvSpPr>
          <p:nvPr>
            <p:ph type="sldNum" sz="quarter" idx="5"/>
          </p:nvPr>
        </p:nvSpPr>
        <p:spPr/>
        <p:txBody>
          <a:bodyPr/>
          <a:lstStyle/>
          <a:p>
            <a:fld id="{FE353E79-A47C-4926-8051-8D74BCE7BF47}" type="slidenum">
              <a:rPr lang="en-MY" smtClean="0"/>
              <a:t>2</a:t>
            </a:fld>
            <a:endParaRPr lang="en-MY"/>
          </a:p>
        </p:txBody>
      </p:sp>
    </p:spTree>
    <p:extLst>
      <p:ext uri="{BB962C8B-B14F-4D97-AF65-F5344CB8AC3E}">
        <p14:creationId xmlns:p14="http://schemas.microsoft.com/office/powerpoint/2010/main" val="1495798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MY" dirty="0"/>
              <a:t>TM aspires to become an AI-driven organisation. But our employees are not starting from the same point.</a:t>
            </a:r>
          </a:p>
          <a:p>
            <a:pPr marL="228600" indent="-228600">
              <a:buFont typeface="+mj-lt"/>
              <a:buAutoNum type="arabicPeriod"/>
            </a:pPr>
            <a:endParaRPr lang="en-MY" dirty="0"/>
          </a:p>
          <a:p>
            <a:pPr marL="228600" indent="-228600">
              <a:buFont typeface="+mj-lt"/>
              <a:buAutoNum type="arabicPeriod"/>
            </a:pPr>
            <a:r>
              <a:rPr lang="en-MY" dirty="0"/>
              <a:t>Today, we face three challenges.</a:t>
            </a:r>
          </a:p>
          <a:p>
            <a:pPr marL="685800" lvl="1" indent="-228600">
              <a:buFont typeface="Arial" panose="020B0604020202020204" pitchFamily="34" charset="0"/>
              <a:buChar char="•"/>
            </a:pPr>
            <a:r>
              <a:rPr lang="en-MY" b="1" dirty="0"/>
              <a:t>First</a:t>
            </a:r>
            <a:r>
              <a:rPr lang="en-MY" dirty="0"/>
              <a:t>, one-size-fits-all training.</a:t>
            </a:r>
          </a:p>
          <a:p>
            <a:pPr marL="685800" lvl="1" indent="-228600">
              <a:buFont typeface="Arial" panose="020B0604020202020204" pitchFamily="34" charset="0"/>
              <a:buChar char="•"/>
            </a:pPr>
            <a:r>
              <a:rPr lang="en-MY" b="1" dirty="0"/>
              <a:t>Second</a:t>
            </a:r>
            <a:r>
              <a:rPr lang="en-MY" dirty="0"/>
              <a:t>, limited visibility into individual AI readiness.</a:t>
            </a:r>
          </a:p>
          <a:p>
            <a:pPr marL="685800" lvl="1" indent="-228600">
              <a:buFont typeface="Arial" panose="020B0604020202020204" pitchFamily="34" charset="0"/>
              <a:buChar char="•"/>
            </a:pPr>
            <a:r>
              <a:rPr lang="en-MY" b="1" dirty="0"/>
              <a:t>Third</a:t>
            </a:r>
            <a:r>
              <a:rPr lang="en-MY" dirty="0"/>
              <a:t>, missed opportunities when learning doesn't match actual needs.</a:t>
            </a:r>
          </a:p>
          <a:p>
            <a:pPr marL="228600" lvl="0" indent="-228600">
              <a:buFont typeface="+mj-lt"/>
              <a:buAutoNum type="arabicPeriod"/>
            </a:pPr>
            <a:endParaRPr lang="en-MY" dirty="0"/>
          </a:p>
          <a:p>
            <a:pPr marL="228600" lvl="0" indent="-228600">
              <a:buFont typeface="+mj-lt"/>
              <a:buAutoNum type="arabicPeriod"/>
            </a:pPr>
            <a:r>
              <a:rPr lang="en-MY" dirty="0"/>
              <a:t>Across </a:t>
            </a:r>
            <a:r>
              <a:rPr lang="en-MY" b="1" dirty="0"/>
              <a:t>18,000 employees</a:t>
            </a:r>
            <a:r>
              <a:rPr lang="en-MY" dirty="0"/>
              <a:t>, these gaps matter. We don't just need more AI training. We need to know </a:t>
            </a:r>
            <a:r>
              <a:rPr lang="en-MY" b="1" dirty="0"/>
              <a:t>who needs what, and why.</a:t>
            </a:r>
            <a:endParaRPr lang="en-MY" dirty="0"/>
          </a:p>
          <a:p>
            <a:endParaRPr lang="en-MY" b="1" dirty="0"/>
          </a:p>
          <a:p>
            <a:r>
              <a:rPr lang="en-MY" b="1" dirty="0"/>
              <a:t>Transition → Slide 3</a:t>
            </a:r>
            <a:endParaRPr lang="en-MY" dirty="0"/>
          </a:p>
          <a:p>
            <a:r>
              <a:rPr lang="en-MY" dirty="0"/>
              <a:t>So, instead of asking everyone to follow the same learning journey, </a:t>
            </a:r>
            <a:r>
              <a:rPr lang="en-MY" b="1" dirty="0"/>
              <a:t>what if AI could help us personalise it?</a:t>
            </a:r>
            <a:endParaRPr lang="en-MY" dirty="0"/>
          </a:p>
        </p:txBody>
      </p:sp>
      <p:sp>
        <p:nvSpPr>
          <p:cNvPr id="4" name="Slide Number Placeholder 3"/>
          <p:cNvSpPr>
            <a:spLocks noGrp="1"/>
          </p:cNvSpPr>
          <p:nvPr>
            <p:ph type="sldNum" sz="quarter" idx="5"/>
          </p:nvPr>
        </p:nvSpPr>
        <p:spPr/>
        <p:txBody>
          <a:bodyPr/>
          <a:lstStyle/>
          <a:p>
            <a:fld id="{FE353E79-A47C-4926-8051-8D74BCE7BF47}" type="slidenum">
              <a:rPr lang="en-MY" smtClean="0"/>
              <a:t>3</a:t>
            </a:fld>
            <a:endParaRPr lang="en-MY"/>
          </a:p>
        </p:txBody>
      </p:sp>
    </p:spTree>
    <p:extLst>
      <p:ext uri="{BB962C8B-B14F-4D97-AF65-F5344CB8AC3E}">
        <p14:creationId xmlns:p14="http://schemas.microsoft.com/office/powerpoint/2010/main" val="1028070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MY" dirty="0"/>
              <a:t>That's why we built </a:t>
            </a:r>
            <a:r>
              <a:rPr lang="en-MY" b="1" dirty="0" err="1"/>
              <a:t>AiNspire</a:t>
            </a:r>
            <a:r>
              <a:rPr lang="en-MY" dirty="0"/>
              <a:t>. Let me show you how it works.</a:t>
            </a:r>
          </a:p>
          <a:p>
            <a:pPr marL="228600" indent="-228600">
              <a:buFont typeface="+mj-lt"/>
              <a:buAutoNum type="arabicPeriod"/>
            </a:pPr>
            <a:endParaRPr lang="en-MY" dirty="0"/>
          </a:p>
          <a:p>
            <a:pPr marL="228600" indent="-228600">
              <a:buFont typeface="+mj-lt"/>
              <a:buAutoNum type="arabicPeriod"/>
            </a:pPr>
            <a:r>
              <a:rPr lang="en-MY" dirty="0"/>
              <a:t>An employee answers just </a:t>
            </a:r>
            <a:r>
              <a:rPr lang="en-MY" b="1" dirty="0"/>
              <a:t>five questions and one reflection</a:t>
            </a:r>
            <a:r>
              <a:rPr lang="en-MY" dirty="0"/>
              <a:t>. </a:t>
            </a:r>
            <a:r>
              <a:rPr lang="en-MY" dirty="0" err="1"/>
              <a:t>AiNspire</a:t>
            </a:r>
            <a:r>
              <a:rPr lang="en-MY" dirty="0"/>
              <a:t> then analyses their responses holistically, identifies a best-fit AI persona, explains its reasoning and recommends a personalised learning pathway. But here's what makes </a:t>
            </a:r>
            <a:r>
              <a:rPr lang="en-MY" dirty="0" err="1"/>
              <a:t>AiNspire</a:t>
            </a:r>
            <a:r>
              <a:rPr lang="en-MY" dirty="0"/>
              <a:t> different. </a:t>
            </a:r>
            <a:r>
              <a:rPr lang="en-MY" b="1" dirty="0"/>
              <a:t>It doesn't simply count answers. It considers what employees actually express about their experience.</a:t>
            </a:r>
          </a:p>
          <a:p>
            <a:pPr marL="228600" indent="-228600">
              <a:buFont typeface="+mj-lt"/>
              <a:buAutoNum type="arabicPeriod"/>
            </a:pPr>
            <a:endParaRPr lang="en-MY" b="1" dirty="0"/>
          </a:p>
          <a:p>
            <a:pPr marL="228600" indent="-228600">
              <a:buFont typeface="+mj-lt"/>
              <a:buAutoNum type="arabicPeriod"/>
            </a:pPr>
            <a:r>
              <a:rPr lang="en-MY" dirty="0"/>
              <a:t>Let me demonstrate. </a:t>
            </a:r>
            <a:r>
              <a:rPr lang="en-MY" b="1" dirty="0"/>
              <a:t>[LIVE DEMO — approximately 50 seconds]</a:t>
            </a:r>
            <a:endParaRPr lang="en-MY" dirty="0"/>
          </a:p>
          <a:p>
            <a:pPr marL="628650" lvl="1" indent="-171450">
              <a:buFont typeface="Arial" panose="020B0604020202020204" pitchFamily="34" charset="0"/>
              <a:buChar char="•"/>
            </a:pPr>
            <a:r>
              <a:rPr lang="en-MY" dirty="0"/>
              <a:t>Show the completed employee assessment.</a:t>
            </a:r>
          </a:p>
          <a:p>
            <a:pPr marL="628650" lvl="1" indent="-171450">
              <a:buFont typeface="Arial" panose="020B0604020202020204" pitchFamily="34" charset="0"/>
              <a:buChar char="•"/>
            </a:pPr>
            <a:r>
              <a:rPr lang="en-MY" dirty="0"/>
              <a:t>Reveal the AI-recommended persona.</a:t>
            </a:r>
          </a:p>
          <a:p>
            <a:pPr marL="628650" lvl="1" indent="-171450">
              <a:buFont typeface="Arial" panose="020B0604020202020204" pitchFamily="34" charset="0"/>
              <a:buChar char="•"/>
            </a:pPr>
            <a:r>
              <a:rPr lang="en-MY" dirty="0"/>
              <a:t>Highlight the reasoning and confidence indicator.</a:t>
            </a:r>
          </a:p>
          <a:p>
            <a:pPr marL="628650" lvl="1" indent="-171450">
              <a:buFont typeface="Arial" panose="020B0604020202020204" pitchFamily="34" charset="0"/>
              <a:buChar char="•"/>
            </a:pPr>
            <a:r>
              <a:rPr lang="en-MY" dirty="0"/>
              <a:t>Show the personalised learning pathway and employee report.</a:t>
            </a:r>
          </a:p>
          <a:p>
            <a:pPr marL="628650" lvl="1" indent="-171450">
              <a:buFont typeface="Arial" panose="020B0604020202020204" pitchFamily="34" charset="0"/>
              <a:buChar char="•"/>
            </a:pPr>
            <a:r>
              <a:rPr lang="en-MY" dirty="0"/>
              <a:t>And importantly, HR retains the final decision.</a:t>
            </a:r>
          </a:p>
          <a:p>
            <a:endParaRPr lang="en-MY" b="1" dirty="0"/>
          </a:p>
          <a:p>
            <a:r>
              <a:rPr lang="en-MY" b="1" dirty="0"/>
              <a:t>AI reasons. Humans decide.</a:t>
            </a:r>
            <a:endParaRPr lang="en-MY" dirty="0"/>
          </a:p>
          <a:p>
            <a:endParaRPr lang="en-MY" b="1" dirty="0"/>
          </a:p>
          <a:p>
            <a:r>
              <a:rPr lang="en-MY" b="1" dirty="0"/>
              <a:t>Transition → Slide 4</a:t>
            </a:r>
            <a:endParaRPr lang="en-MY" dirty="0"/>
          </a:p>
          <a:p>
            <a:r>
              <a:rPr lang="en-MY" dirty="0"/>
              <a:t>Now imagine what this means, not just for one employee, but across the organisation.</a:t>
            </a:r>
          </a:p>
          <a:p>
            <a:endParaRPr lang="en-MY" dirty="0"/>
          </a:p>
          <a:p>
            <a:r>
              <a:rPr lang="en-MY" dirty="0"/>
              <a:t>Delivery Guide:</a:t>
            </a:r>
          </a:p>
          <a:p>
            <a:r>
              <a:rPr lang="en-MY" dirty="0"/>
              <a:t>Recommended demo scenario: Use an employee whose reflection demonstrates meaningful practical AI experience, even though some multiple-choice responses suggest lower readiness. This is a stronger demonstration of holistic reasoning than showing only an obvious high-scoring candidate.</a:t>
            </a:r>
          </a:p>
          <a:p>
            <a:r>
              <a:rPr lang="en-MY" dirty="0"/>
              <a:t>Keep the completed assessment ready before the pitch. You should not spend time typing all six responses live.</a:t>
            </a:r>
          </a:p>
          <a:p>
            <a:endParaRPr lang="en-MY" dirty="0"/>
          </a:p>
          <a:p>
            <a:r>
              <a:rPr lang="en-MY" dirty="0"/>
              <a:t>Do not explain the entire interface. Show the transformation from employee responses into an explainable, actionable learning recommendation. The confidence indicator reflects the prototype's internal assessment and should not be described as a calibrated probability of accuracy.</a:t>
            </a:r>
          </a:p>
        </p:txBody>
      </p:sp>
      <p:sp>
        <p:nvSpPr>
          <p:cNvPr id="4" name="Slide Number Placeholder 3"/>
          <p:cNvSpPr>
            <a:spLocks noGrp="1"/>
          </p:cNvSpPr>
          <p:nvPr>
            <p:ph type="sldNum" sz="quarter" idx="5"/>
          </p:nvPr>
        </p:nvSpPr>
        <p:spPr/>
        <p:txBody>
          <a:bodyPr/>
          <a:lstStyle/>
          <a:p>
            <a:fld id="{FE353E79-A47C-4926-8051-8D74BCE7BF47}" type="slidenum">
              <a:rPr lang="en-MY" smtClean="0"/>
              <a:t>4</a:t>
            </a:fld>
            <a:endParaRPr lang="en-MY"/>
          </a:p>
        </p:txBody>
      </p:sp>
    </p:spTree>
    <p:extLst>
      <p:ext uri="{BB962C8B-B14F-4D97-AF65-F5344CB8AC3E}">
        <p14:creationId xmlns:p14="http://schemas.microsoft.com/office/powerpoint/2010/main" val="1920812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MY" dirty="0"/>
              <a:t>What you've just seen is more than an assessment. It creates </a:t>
            </a:r>
            <a:r>
              <a:rPr lang="en-MY" b="1" dirty="0"/>
              <a:t>three levels of value</a:t>
            </a:r>
            <a:r>
              <a:rPr lang="en-MY" dirty="0"/>
              <a:t>.</a:t>
            </a:r>
          </a:p>
          <a:p>
            <a:pPr marL="628650" lvl="1" indent="-171450">
              <a:buFont typeface="Arial" panose="020B0604020202020204" pitchFamily="34" charset="0"/>
              <a:buChar char="•"/>
            </a:pPr>
            <a:r>
              <a:rPr lang="en-MY" b="1" dirty="0"/>
              <a:t>For employees</a:t>
            </a:r>
            <a:r>
              <a:rPr lang="en-MY" dirty="0"/>
              <a:t>, clarity and confidence. They understand where they stand and how to grow.</a:t>
            </a:r>
          </a:p>
          <a:p>
            <a:pPr marL="628650" lvl="1" indent="-171450">
              <a:buFont typeface="Arial" panose="020B0604020202020204" pitchFamily="34" charset="0"/>
              <a:buChar char="•"/>
            </a:pPr>
            <a:r>
              <a:rPr lang="en-MY" b="1" dirty="0"/>
              <a:t>For HR</a:t>
            </a:r>
            <a:r>
              <a:rPr lang="en-MY" dirty="0"/>
              <a:t>, precision in development. Learning can be better aligned to actual capability needs.</a:t>
            </a:r>
          </a:p>
          <a:p>
            <a:pPr marL="628650" lvl="1" indent="-171450">
              <a:buFont typeface="Arial" panose="020B0604020202020204" pitchFamily="34" charset="0"/>
              <a:buChar char="•"/>
            </a:pPr>
            <a:r>
              <a:rPr lang="en-MY" b="1" dirty="0"/>
              <a:t>For TM leadership</a:t>
            </a:r>
            <a:r>
              <a:rPr lang="en-MY" dirty="0"/>
              <a:t>, workforce intelligence. We can begin identifying capability gaps and making more informed development investments.</a:t>
            </a:r>
          </a:p>
          <a:p>
            <a:pPr marL="228600" lvl="0" indent="-228600">
              <a:buFont typeface="+mj-lt"/>
              <a:buAutoNum type="arabicPeriod"/>
            </a:pPr>
            <a:endParaRPr lang="en-MY" dirty="0"/>
          </a:p>
          <a:p>
            <a:pPr marL="228600" lvl="0" indent="-228600">
              <a:buFont typeface="+mj-lt"/>
              <a:buAutoNum type="arabicPeriod"/>
            </a:pPr>
            <a:r>
              <a:rPr lang="en-MY" dirty="0"/>
              <a:t>And here's something equally important. </a:t>
            </a:r>
            <a:r>
              <a:rPr lang="en-MY" dirty="0" err="1"/>
              <a:t>AiNspire</a:t>
            </a:r>
            <a:r>
              <a:rPr lang="en-MY" dirty="0"/>
              <a:t> is designed around </a:t>
            </a:r>
            <a:r>
              <a:rPr lang="en-MY" b="1" dirty="0"/>
              <a:t>explainability, transparency and human oversight</a:t>
            </a:r>
            <a:r>
              <a:rPr lang="en-MY" dirty="0"/>
              <a:t>. Because AI should support people, not make decisions about their future without them.</a:t>
            </a:r>
          </a:p>
          <a:p>
            <a:endParaRPr lang="en-MY" b="1" dirty="0"/>
          </a:p>
          <a:p>
            <a:r>
              <a:rPr lang="en-MY" b="1" dirty="0"/>
              <a:t>Transition → Slide 5</a:t>
            </a:r>
            <a:endParaRPr lang="en-MY" dirty="0"/>
          </a:p>
          <a:p>
            <a:r>
              <a:rPr lang="en-MY" dirty="0"/>
              <a:t>So, where do we go from here? </a:t>
            </a:r>
            <a:r>
              <a:rPr lang="en-MY" b="1" dirty="0"/>
              <a:t>From one assessment to an organisation-wide opportunity.</a:t>
            </a:r>
          </a:p>
          <a:p>
            <a:endParaRPr lang="en-MY" b="1" dirty="0"/>
          </a:p>
          <a:p>
            <a:r>
              <a:rPr lang="en-MY" dirty="0"/>
              <a:t>Delivery guidance: </a:t>
            </a:r>
          </a:p>
          <a:p>
            <a:r>
              <a:rPr lang="en-MY" dirty="0"/>
              <a:t>Build the narrative from the individual employee to HR and finally to TM leadership. This progression demonstrates that </a:t>
            </a:r>
            <a:r>
              <a:rPr lang="en-MY" dirty="0" err="1"/>
              <a:t>AiNspire</a:t>
            </a:r>
            <a:r>
              <a:rPr lang="en-MY" dirty="0"/>
              <a:t> has both human value and enterprise potential.</a:t>
            </a:r>
          </a:p>
        </p:txBody>
      </p:sp>
      <p:sp>
        <p:nvSpPr>
          <p:cNvPr id="4" name="Slide Number Placeholder 3"/>
          <p:cNvSpPr>
            <a:spLocks noGrp="1"/>
          </p:cNvSpPr>
          <p:nvPr>
            <p:ph type="sldNum" sz="quarter" idx="5"/>
          </p:nvPr>
        </p:nvSpPr>
        <p:spPr/>
        <p:txBody>
          <a:bodyPr/>
          <a:lstStyle/>
          <a:p>
            <a:fld id="{FE353E79-A47C-4926-8051-8D74BCE7BF47}" type="slidenum">
              <a:rPr lang="en-MY" smtClean="0"/>
              <a:t>5</a:t>
            </a:fld>
            <a:endParaRPr lang="en-MY"/>
          </a:p>
        </p:txBody>
      </p:sp>
    </p:spTree>
    <p:extLst>
      <p:ext uri="{BB962C8B-B14F-4D97-AF65-F5344CB8AC3E}">
        <p14:creationId xmlns:p14="http://schemas.microsoft.com/office/powerpoint/2010/main" val="1625890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MY" dirty="0"/>
              <a:t>Remember the two employees we started with? One confident with AI. The other uncertain where to begin.</a:t>
            </a:r>
          </a:p>
          <a:p>
            <a:pPr marL="228600" indent="-228600">
              <a:buFont typeface="+mj-lt"/>
              <a:buAutoNum type="arabicPeriod"/>
            </a:pPr>
            <a:endParaRPr lang="en-MY" dirty="0"/>
          </a:p>
          <a:p>
            <a:pPr marL="228600" indent="-228600">
              <a:buFont typeface="+mj-lt"/>
              <a:buAutoNum type="arabicPeriod"/>
            </a:pPr>
            <a:r>
              <a:rPr lang="en-MY" dirty="0"/>
              <a:t>Our ambition is simple: </a:t>
            </a:r>
            <a:r>
              <a:rPr lang="en-MY" b="1" dirty="0"/>
              <a:t>neither should be left behind. </a:t>
            </a:r>
            <a:r>
              <a:rPr lang="en-MY" dirty="0"/>
              <a:t>We are not building an AI assessment tool. </a:t>
            </a:r>
            <a:r>
              <a:rPr lang="en-MY" b="1" dirty="0"/>
              <a:t>We are building a future where every employee has the opportunity to grow with AI. </a:t>
            </a:r>
            <a:r>
              <a:rPr lang="en-MY" dirty="0"/>
              <a:t>[Brief pause]</a:t>
            </a:r>
          </a:p>
          <a:p>
            <a:pPr marL="228600" indent="-228600">
              <a:buFont typeface="+mj-lt"/>
              <a:buAutoNum type="arabicPeriod"/>
            </a:pPr>
            <a:endParaRPr lang="en-MY" dirty="0"/>
          </a:p>
          <a:p>
            <a:pPr marL="228600" indent="-228600">
              <a:buFont typeface="+mj-lt"/>
              <a:buAutoNum type="arabicPeriod"/>
            </a:pPr>
            <a:r>
              <a:rPr lang="en-MY" dirty="0"/>
              <a:t>Because ultimately…</a:t>
            </a:r>
            <a:r>
              <a:rPr lang="en-MY" b="1" dirty="0"/>
              <a:t>The success of AI transformation is not measured by how intelligent our technology becomes. </a:t>
            </a:r>
            <a:r>
              <a:rPr lang="en-MY" dirty="0"/>
              <a:t>[Pause] </a:t>
            </a:r>
            <a:r>
              <a:rPr lang="en-MY" b="1" dirty="0"/>
              <a:t>It is measured by how much more capable our PEOPLE become. </a:t>
            </a:r>
            <a:r>
              <a:rPr lang="en-MY" dirty="0"/>
              <a:t>[Pause] That is </a:t>
            </a:r>
            <a:r>
              <a:rPr lang="en-MY" dirty="0" err="1"/>
              <a:t>AiNspire</a:t>
            </a:r>
            <a:r>
              <a:rPr lang="en-MY" dirty="0"/>
              <a:t>.</a:t>
            </a:r>
          </a:p>
          <a:p>
            <a:pPr marL="228600" indent="-228600">
              <a:buFont typeface="+mj-lt"/>
              <a:buAutoNum type="arabicPeriod"/>
            </a:pPr>
            <a:endParaRPr lang="en-MY" b="1" dirty="0"/>
          </a:p>
          <a:p>
            <a:pPr marL="228600" indent="-228600">
              <a:buFont typeface="+mj-lt"/>
              <a:buAutoNum type="arabicPeriod"/>
            </a:pPr>
            <a:r>
              <a:rPr lang="en-MY" b="1" dirty="0"/>
              <a:t>Inspiring People. Empowering Transformation. </a:t>
            </a:r>
            <a:r>
              <a:rPr lang="en-MY" dirty="0"/>
              <a:t>Thank you.</a:t>
            </a:r>
          </a:p>
          <a:p>
            <a:pPr marL="228600" indent="-228600">
              <a:buFont typeface="+mj-lt"/>
              <a:buAutoNum type="arabicPeriod"/>
            </a:pPr>
            <a:endParaRPr lang="en-MY" dirty="0"/>
          </a:p>
          <a:p>
            <a:pPr marL="0" lvl="0" indent="0">
              <a:buFont typeface="+mj-lt"/>
              <a:buNone/>
            </a:pPr>
            <a:r>
              <a:rPr lang="en-MY" dirty="0"/>
              <a:t>Delivery guidance: </a:t>
            </a:r>
          </a:p>
          <a:p>
            <a:pPr marL="0" lvl="0" indent="0">
              <a:buFont typeface="+mj-lt"/>
              <a:buNone/>
            </a:pPr>
            <a:r>
              <a:rPr lang="en-MY" dirty="0"/>
              <a:t>Return your attention to the judges when saying "Remember the two employees we started with?" Slow down for the final three statements. Avoid rushing the closing; the emotional connection between Slide 1 and Slide 5 is what makes the story memorable.</a:t>
            </a:r>
          </a:p>
        </p:txBody>
      </p:sp>
      <p:sp>
        <p:nvSpPr>
          <p:cNvPr id="4" name="Slide Number Placeholder 3"/>
          <p:cNvSpPr>
            <a:spLocks noGrp="1"/>
          </p:cNvSpPr>
          <p:nvPr>
            <p:ph type="sldNum" sz="quarter" idx="5"/>
          </p:nvPr>
        </p:nvSpPr>
        <p:spPr/>
        <p:txBody>
          <a:bodyPr/>
          <a:lstStyle/>
          <a:p>
            <a:fld id="{FE353E79-A47C-4926-8051-8D74BCE7BF47}" type="slidenum">
              <a:rPr lang="en-MY" smtClean="0"/>
              <a:t>6</a:t>
            </a:fld>
            <a:endParaRPr lang="en-MY"/>
          </a:p>
        </p:txBody>
      </p:sp>
    </p:spTree>
    <p:extLst>
      <p:ext uri="{BB962C8B-B14F-4D97-AF65-F5344CB8AC3E}">
        <p14:creationId xmlns:p14="http://schemas.microsoft.com/office/powerpoint/2010/main" val="2267634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most compelling overall storyline is therefore:</a:t>
            </a:r>
          </a:p>
          <a:p>
            <a:r>
              <a:rPr lang="en-MY" dirty="0"/>
              <a:t>Slide 1: No employee should be left behind.</a:t>
            </a:r>
          </a:p>
          <a:p>
            <a:r>
              <a:rPr lang="en-MY" dirty="0"/>
              <a:t>Slide 2: We cannot develop what we do not understand.</a:t>
            </a:r>
          </a:p>
          <a:p>
            <a:r>
              <a:rPr lang="en-MY" dirty="0"/>
              <a:t>Slide 3: </a:t>
            </a:r>
            <a:r>
              <a:rPr lang="en-MY" dirty="0" err="1"/>
              <a:t>AiNspire</a:t>
            </a:r>
            <a:r>
              <a:rPr lang="en-MY" dirty="0"/>
              <a:t> demonstrates how individual readiness can be understood.</a:t>
            </a:r>
          </a:p>
          <a:p>
            <a:r>
              <a:rPr lang="en-MY" dirty="0"/>
              <a:t>Slide 4: Personalised development creates value for employees, HR and leadership.</a:t>
            </a:r>
          </a:p>
          <a:p>
            <a:r>
              <a:rPr lang="en-MY" dirty="0"/>
              <a:t>Slide 5: The true measure of AI transformation is how much more capable our people become.</a:t>
            </a:r>
          </a:p>
          <a:p>
            <a:endParaRPr lang="en-MY" dirty="0"/>
          </a:p>
          <a:p>
            <a:r>
              <a:rPr lang="en-MY" b="1" dirty="0"/>
              <a:t>That creates a consistent narrative from empathy → evidence → impact → inspiration.</a:t>
            </a:r>
          </a:p>
          <a:p>
            <a:endParaRPr lang="en-MY" dirty="0"/>
          </a:p>
          <a:p>
            <a:r>
              <a:rPr lang="en-MY" dirty="0"/>
              <a:t>And if the judges remember only one sentence after hearing several hackathon pitches, I would want it to be:</a:t>
            </a:r>
          </a:p>
          <a:p>
            <a:r>
              <a:rPr lang="en-MY" dirty="0"/>
              <a:t>"The true measure of AI transformation isn't how intelligent our technology becomes. It's how much more capable our people become."</a:t>
            </a:r>
          </a:p>
        </p:txBody>
      </p:sp>
      <p:sp>
        <p:nvSpPr>
          <p:cNvPr id="4" name="Slide Number Placeholder 3"/>
          <p:cNvSpPr>
            <a:spLocks noGrp="1"/>
          </p:cNvSpPr>
          <p:nvPr>
            <p:ph type="sldNum" sz="quarter" idx="5"/>
          </p:nvPr>
        </p:nvSpPr>
        <p:spPr/>
        <p:txBody>
          <a:bodyPr/>
          <a:lstStyle/>
          <a:p>
            <a:fld id="{FE353E79-A47C-4926-8051-8D74BCE7BF47}" type="slidenum">
              <a:rPr lang="en-MY" smtClean="0"/>
              <a:t>7</a:t>
            </a:fld>
            <a:endParaRPr lang="en-MY"/>
          </a:p>
        </p:txBody>
      </p:sp>
    </p:spTree>
    <p:extLst>
      <p:ext uri="{BB962C8B-B14F-4D97-AF65-F5344CB8AC3E}">
        <p14:creationId xmlns:p14="http://schemas.microsoft.com/office/powerpoint/2010/main" val="1139403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973BD-3645-E9D7-171F-38933D5354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D432B37C-EFCA-9022-AA35-E009F730F4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D479F3B1-1595-F582-17DF-7155122C21D9}"/>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5" name="Footer Placeholder 4">
            <a:extLst>
              <a:ext uri="{FF2B5EF4-FFF2-40B4-BE49-F238E27FC236}">
                <a16:creationId xmlns:a16="http://schemas.microsoft.com/office/drawing/2014/main" id="{9EA326A3-344A-D297-9E82-2A443C3FD32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809D7900-A867-F011-A404-1FD07C8DF8CB}"/>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2300321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0B415-5444-9DB6-723D-BF66B52834E3}"/>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1E90215D-2F74-D572-A5C2-50990046E5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7790AE0-0F1D-D642-0F17-19B972875699}"/>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5" name="Footer Placeholder 4">
            <a:extLst>
              <a:ext uri="{FF2B5EF4-FFF2-40B4-BE49-F238E27FC236}">
                <a16:creationId xmlns:a16="http://schemas.microsoft.com/office/drawing/2014/main" id="{80EABE04-CF66-5CC5-808B-89DFC302A832}"/>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9F4E45B5-82FA-D4BE-3FCC-67039D2878C5}"/>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21681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D42C-3602-D469-9960-2011BCB255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7B8874C8-64BC-B4AE-1110-9502F9AA1A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F5F1B-27C6-2FA2-81AE-37FCB9E26BE5}"/>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5" name="Footer Placeholder 4">
            <a:extLst>
              <a:ext uri="{FF2B5EF4-FFF2-40B4-BE49-F238E27FC236}">
                <a16:creationId xmlns:a16="http://schemas.microsoft.com/office/drawing/2014/main" id="{F24FFCBD-FEDE-AB4E-4C9C-9B3001102790}"/>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6CBF4BE1-0C3F-6259-41A1-65628FC983AA}"/>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2220972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9B561-8CE0-30D1-500B-AC2BA05C2D07}"/>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5FDF4B57-261F-830A-6845-A75E5A2D0F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32FAA118-92A9-B793-51F9-7C77230B1B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7E1AE4F8-2E05-8EF3-6C8E-C81CDB4D552E}"/>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6" name="Footer Placeholder 5">
            <a:extLst>
              <a:ext uri="{FF2B5EF4-FFF2-40B4-BE49-F238E27FC236}">
                <a16:creationId xmlns:a16="http://schemas.microsoft.com/office/drawing/2014/main" id="{C2D5BA59-1ABC-7035-A870-136C0860008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BF359ADA-8EB8-3C24-03B4-69A62E935CFB}"/>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729169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B5D04-460B-64E3-9B55-4B695F0D0893}"/>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6203C900-E91F-1B1B-6FB1-CF180B7986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0C5D2C-73FD-822F-E51E-DC3EEBA844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112F137E-6FFA-C77F-D8B7-DFEB00278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14CEA7-FBAB-7D3A-9381-297BD56A47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36C67A7D-B10C-BF97-8786-E44426846947}"/>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8" name="Footer Placeholder 7">
            <a:extLst>
              <a:ext uri="{FF2B5EF4-FFF2-40B4-BE49-F238E27FC236}">
                <a16:creationId xmlns:a16="http://schemas.microsoft.com/office/drawing/2014/main" id="{AB94126E-2359-7847-A816-8CD09A2E7E8A}"/>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FFA6B188-9008-59B7-B1C4-674CD9B833F5}"/>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2193358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2BA5A-CA81-A4DE-AD91-1DFFFEC8CD55}"/>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C42BA61B-51EF-78BE-074E-3156CC4BDFBA}"/>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4" name="Footer Placeholder 3">
            <a:extLst>
              <a:ext uri="{FF2B5EF4-FFF2-40B4-BE49-F238E27FC236}">
                <a16:creationId xmlns:a16="http://schemas.microsoft.com/office/drawing/2014/main" id="{93DF2FAB-5237-27C6-33D8-08817B3475E3}"/>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6FDA12F3-7CC3-CFCC-1E51-E4995CBC9EA7}"/>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1000548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C41A3B-2BDC-719A-D0A9-4D1E3B0479C8}"/>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3" name="Footer Placeholder 2">
            <a:extLst>
              <a:ext uri="{FF2B5EF4-FFF2-40B4-BE49-F238E27FC236}">
                <a16:creationId xmlns:a16="http://schemas.microsoft.com/office/drawing/2014/main" id="{0E73158B-D7CA-2124-0244-C94B42512FB8}"/>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47A020EB-05E2-154C-A9E8-8DE46D52DAC1}"/>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219938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D963-971B-7F38-3908-EBF09A4128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75286D5A-E2E0-8868-2120-C023CFA6AA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101DA5AD-5941-D3EC-717A-A0F1F45CD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BE0831-6DCF-039D-D535-EA695E567C7D}"/>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6" name="Footer Placeholder 5">
            <a:extLst>
              <a:ext uri="{FF2B5EF4-FFF2-40B4-BE49-F238E27FC236}">
                <a16:creationId xmlns:a16="http://schemas.microsoft.com/office/drawing/2014/main" id="{5E848051-A53A-A947-8DA4-DBDCB4B17372}"/>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FDC4BDC1-2D73-555B-CD69-6C05DE3E62C0}"/>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3060618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A1BF2-5AE2-13D6-B1C0-3AAE49D7F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2EF36D40-23A5-A43C-73FE-9C5F97604B1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36A30C71-A521-E214-58C0-FF99255D2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37C33E-E355-31E2-8A35-90245B246D67}"/>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6" name="Footer Placeholder 5">
            <a:extLst>
              <a:ext uri="{FF2B5EF4-FFF2-40B4-BE49-F238E27FC236}">
                <a16:creationId xmlns:a16="http://schemas.microsoft.com/office/drawing/2014/main" id="{E6F6107A-50C7-F878-3754-F36AD9FC7AC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24ED4A53-0BAE-E447-687D-BE4F79B29890}"/>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1618511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305B-3B9A-7017-6B41-AFF7F0D1B3ED}"/>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59B07C26-52EE-82D0-342A-3CC5CEA999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BCAF092-A7F9-0E10-F655-13E33CD9364A}"/>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5" name="Footer Placeholder 4">
            <a:extLst>
              <a:ext uri="{FF2B5EF4-FFF2-40B4-BE49-F238E27FC236}">
                <a16:creationId xmlns:a16="http://schemas.microsoft.com/office/drawing/2014/main" id="{EB382D21-4382-8C27-4D65-A536A667292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6B81C17B-483A-3F35-A30C-3EB6F7685838}"/>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2835104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6AAE39-26F0-7847-6684-13572F9538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F917407E-65F6-9522-680E-448FF461BF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48980FB-0502-42E3-6D0D-6B5310842888}"/>
              </a:ext>
            </a:extLst>
          </p:cNvPr>
          <p:cNvSpPr>
            <a:spLocks noGrp="1"/>
          </p:cNvSpPr>
          <p:nvPr>
            <p:ph type="dt" sz="half" idx="10"/>
          </p:nvPr>
        </p:nvSpPr>
        <p:spPr/>
        <p:txBody>
          <a:bodyPr/>
          <a:lstStyle/>
          <a:p>
            <a:fld id="{A0C174C4-8F6D-43BA-80D5-C42F405BF0F5}" type="datetimeFigureOut">
              <a:rPr lang="en-MY" smtClean="0"/>
              <a:t>11/10/2026</a:t>
            </a:fld>
            <a:endParaRPr lang="en-MY"/>
          </a:p>
        </p:txBody>
      </p:sp>
      <p:sp>
        <p:nvSpPr>
          <p:cNvPr id="5" name="Footer Placeholder 4">
            <a:extLst>
              <a:ext uri="{FF2B5EF4-FFF2-40B4-BE49-F238E27FC236}">
                <a16:creationId xmlns:a16="http://schemas.microsoft.com/office/drawing/2014/main" id="{D9CB858C-422C-4590-BCF2-67BE3A0E0481}"/>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E96CC19C-799A-CE2E-C131-1A3582803112}"/>
              </a:ext>
            </a:extLst>
          </p:cNvPr>
          <p:cNvSpPr>
            <a:spLocks noGrp="1"/>
          </p:cNvSpPr>
          <p:nvPr>
            <p:ph type="sldNum" sz="quarter" idx="12"/>
          </p:nvPr>
        </p:nvSpPr>
        <p:spPr/>
        <p:txBody>
          <a:bodyPr/>
          <a:lstStyle/>
          <a:p>
            <a:fld id="{5AACB2E4-2D6E-4533-B294-83A97336BE7F}" type="slidenum">
              <a:rPr lang="en-MY" smtClean="0"/>
              <a:t>‹#›</a:t>
            </a:fld>
            <a:endParaRPr lang="en-MY"/>
          </a:p>
        </p:txBody>
      </p:sp>
    </p:spTree>
    <p:extLst>
      <p:ext uri="{BB962C8B-B14F-4D97-AF65-F5344CB8AC3E}">
        <p14:creationId xmlns:p14="http://schemas.microsoft.com/office/powerpoint/2010/main" val="1585586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B08607-F214-1D64-1DE0-E8B9DF9A30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6C2C9274-B609-FEF4-C1DB-5623326443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14B55FDA-F0BA-B495-4952-D6BD84D962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C174C4-8F6D-43BA-80D5-C42F405BF0F5}" type="datetimeFigureOut">
              <a:rPr lang="en-MY" smtClean="0"/>
              <a:t>11/10/2026</a:t>
            </a:fld>
            <a:endParaRPr lang="en-MY"/>
          </a:p>
        </p:txBody>
      </p:sp>
      <p:sp>
        <p:nvSpPr>
          <p:cNvPr id="5" name="Footer Placeholder 4">
            <a:extLst>
              <a:ext uri="{FF2B5EF4-FFF2-40B4-BE49-F238E27FC236}">
                <a16:creationId xmlns:a16="http://schemas.microsoft.com/office/drawing/2014/main" id="{8CD57A3F-4B98-7411-EDF4-6E326050F2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B9297601-075D-4EDD-EC7E-7476DD591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ACB2E4-2D6E-4533-B294-83A97336BE7F}" type="slidenum">
              <a:rPr lang="en-MY" smtClean="0"/>
              <a:t>‹#›</a:t>
            </a:fld>
            <a:endParaRPr lang="en-MY"/>
          </a:p>
        </p:txBody>
      </p:sp>
    </p:spTree>
    <p:extLst>
      <p:ext uri="{BB962C8B-B14F-4D97-AF65-F5344CB8AC3E}">
        <p14:creationId xmlns:p14="http://schemas.microsoft.com/office/powerpoint/2010/main" val="2647167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1EBD7-201F-AE3C-07A5-7FB69A2941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89418C-DFE4-FD18-7E59-646896DE40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990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AA7480-2780-43CE-4A1E-1FF03801E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extLst>
      <p:ext uri="{BB962C8B-B14F-4D97-AF65-F5344CB8AC3E}">
        <p14:creationId xmlns:p14="http://schemas.microsoft.com/office/powerpoint/2010/main" val="1480758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99593-81C0-71B6-62B3-C8F69360C59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1E39846-E53F-357F-3EE7-C3ACA3AF32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65389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0EBB-8F91-C3C2-0689-AA1ED36B064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B44114-9572-3FFC-736D-09D02B1B72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99140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12AB7-5C78-C268-9778-5683C7149C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8CFA58-4234-03F4-4265-50BE4A69E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74912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E74B1-931E-4FB5-64B2-5D73A8E0C5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7C192C2-A1A0-5403-C7AD-04343112F1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70181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0A6FE-2E4C-611F-BB85-24259B8057C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7606DC-9D76-B128-B9EE-336A87A2CA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97747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1050</Words>
  <Application>Microsoft Office PowerPoint</Application>
  <PresentationFormat>Widescreen</PresentationFormat>
  <Paragraphs>91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 Soo Chern Tien</dc:creator>
  <cp:lastModifiedBy>Ts. Soo Chern Tien</cp:lastModifiedBy>
  <cp:revision>1</cp:revision>
  <dcterms:created xsi:type="dcterms:W3CDTF">2026-10-10T18:36:24Z</dcterms:created>
  <dcterms:modified xsi:type="dcterms:W3CDTF">2026-10-10T19:12:41Z</dcterms:modified>
</cp:coreProperties>
</file>