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7" r:id="rId2"/>
    <p:sldId id="258" r:id="rId3"/>
    <p:sldId id="261" r:id="rId4"/>
    <p:sldId id="256"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mployee Journey" id="{34B28108-8DAF-42F5-B821-287F64506DAC}">
          <p14:sldIdLst>
            <p14:sldId id="257"/>
            <p14:sldId id="258"/>
            <p14:sldId id="261"/>
          </p14:sldIdLst>
        </p14:section>
        <p14:section name="HR Journey" id="{B9554CDD-823B-406F-9DB3-3C4C47F25EF9}">
          <p14:sldIdLst>
            <p14:sldId id="256"/>
            <p14:sldId id="259"/>
            <p14:sldId id="26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F96E3-7A3C-4A52-875E-B2F08D51C18E}" v="2" dt="2026-10-11T15:28:22.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7859" autoAdjust="0"/>
  </p:normalViewPr>
  <p:slideViewPr>
    <p:cSldViewPr snapToGrid="0">
      <p:cViewPr varScale="1">
        <p:scale>
          <a:sx n="71" d="100"/>
          <a:sy n="71" d="100"/>
        </p:scale>
        <p:origin x="3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 Soo Chern Tien" userId="d0e54690-ab4c-4b1e-bd23-b1c775f620f7" providerId="ADAL" clId="{C2E91098-64A1-4A13-8C37-71AC01E7225C}"/>
    <pc:docChg chg="addSld modSld sldOrd">
      <pc:chgData name="Ts. Soo Chern Tien" userId="d0e54690-ab4c-4b1e-bd23-b1c775f620f7" providerId="ADAL" clId="{C2E91098-64A1-4A13-8C37-71AC01E7225C}" dt="2026-10-11T15:34:06.135" v="7"/>
      <pc:docMkLst>
        <pc:docMk/>
      </pc:docMkLst>
      <pc:sldChg chg="ord">
        <pc:chgData name="Ts. Soo Chern Tien" userId="d0e54690-ab4c-4b1e-bd23-b1c775f620f7" providerId="ADAL" clId="{C2E91098-64A1-4A13-8C37-71AC01E7225C}" dt="2026-10-11T15:33:59.168" v="5"/>
        <pc:sldMkLst>
          <pc:docMk/>
          <pc:sldMk cId="1592586112" sldId="256"/>
        </pc:sldMkLst>
      </pc:sldChg>
      <pc:sldChg chg="ord">
        <pc:chgData name="Ts. Soo Chern Tien" userId="d0e54690-ab4c-4b1e-bd23-b1c775f620f7" providerId="ADAL" clId="{C2E91098-64A1-4A13-8C37-71AC01E7225C}" dt="2026-10-11T15:34:02.762" v="6"/>
        <pc:sldMkLst>
          <pc:docMk/>
          <pc:sldMk cId="2171757303" sldId="258"/>
        </pc:sldMkLst>
      </pc:sldChg>
      <pc:sldChg chg="addSp add">
        <pc:chgData name="Ts. Soo Chern Tien" userId="d0e54690-ab4c-4b1e-bd23-b1c775f620f7" providerId="ADAL" clId="{C2E91098-64A1-4A13-8C37-71AC01E7225C}" dt="2026-10-11T15:33:01.581" v="4"/>
        <pc:sldMkLst>
          <pc:docMk/>
          <pc:sldMk cId="1043857983" sldId="260"/>
        </pc:sldMkLst>
        <pc:picChg chg="add">
          <ac:chgData name="Ts. Soo Chern Tien" userId="d0e54690-ab4c-4b1e-bd23-b1c775f620f7" providerId="ADAL" clId="{C2E91098-64A1-4A13-8C37-71AC01E7225C}" dt="2026-10-11T15:33:01.581" v="4"/>
          <ac:picMkLst>
            <pc:docMk/>
            <pc:sldMk cId="1043857983" sldId="260"/>
            <ac:picMk id="3" creationId="{56AB1A70-E40C-8522-2EA6-D7BE5EF8F084}"/>
          </ac:picMkLst>
        </pc:picChg>
      </pc:sldChg>
      <pc:sldChg chg="addSp add ord">
        <pc:chgData name="Ts. Soo Chern Tien" userId="d0e54690-ab4c-4b1e-bd23-b1c775f620f7" providerId="ADAL" clId="{C2E91098-64A1-4A13-8C37-71AC01E7225C}" dt="2026-10-11T15:34:06.135" v="7"/>
        <pc:sldMkLst>
          <pc:docMk/>
          <pc:sldMk cId="2163570021" sldId="261"/>
        </pc:sldMkLst>
        <pc:picChg chg="add">
          <ac:chgData name="Ts. Soo Chern Tien" userId="d0e54690-ab4c-4b1e-bd23-b1c775f620f7" providerId="ADAL" clId="{C2E91098-64A1-4A13-8C37-71AC01E7225C}" dt="2026-10-11T15:32:16.202" v="3"/>
          <ac:picMkLst>
            <pc:docMk/>
            <pc:sldMk cId="2163570021" sldId="261"/>
            <ac:picMk id="3" creationId="{9AB13EF7-325A-9F3E-367A-83528E97A0F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Employee journey summary based on the agreed AiNspire process. The employee begins with assessment. Persona, confidence and reflection guide personalised learning. The recommended contribution role connects to suitable AI projects. Showing interest creates a supervisor review request, not immediate acceptance or assignment. Approval and assignment are separate. Rejection should provide a reason and support or an alternative project. After assignment, the employee participates and completes work. The project owner and validator assess benefit evidence. Benefit categories can overlap and should not be double counted. Profile confidence means evidence consistency, not certified competence. Current supervisor routing and same-browser records are a POC simulation. Source: AiNspire current POC source and approved process in this conversation, 11 October 2026.</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CB3B3-1E78-0EF4-A585-2F22521B7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96D02-0DDB-11E4-CA54-75E381CE70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EAEC8-F198-18A2-1B40-56ED296EE02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BE19B85-FB94-56BE-83B1-1FCA05EDF7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09223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651C8-3FA3-0CAC-86B6-3F18CE87A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DD52F-740F-CF3B-33DB-D09564B1D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3D075-C9A7-56FB-62F9-EB3D09F01C0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A6B8FBD-4809-54F6-A38D-2747567257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94850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HR begins after employee assessment and monitors data continuously rather than waiting for every stage to finish. Understand: examine participation, guided AI readiness, persona distribution and profile evidence consistency. Review reflection-provided/review-pending and clarification-required/reflection-pending records. Develop: prioritise capability gaps by division and persona, recommend relevant courses, generate a draft 90-day upskilling plan for the selected persona and assess learning evidence. Develop Talents: monitor interest, supervisor approval/rejection reasons, confirmed capacity, separate assignment and utilisation. HR supports workforce planning and does not automatically assign staff from persona alone. Review Outcome: inspect completed contributions and project-level benefit evidence with owner/validator review. Cost avoidance, cost saving, productivity and internalisation can overlap and must not be double counted. These insights feed the next workforce decisions. Current dashboard figures are illustrative POC samples. Supervisor routing and same-browser records are simulated. Source: approved AiNspire HR process and scope in this conversation, 11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64359-01F7-10B0-288C-CF7E9716B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607D4-7AAE-0FD5-4ED3-AFA1AE5E1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69F92-D771-65A4-01AA-FCEDA45F35F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27BBAF9-5327-2544-4D8D-7264D7BADEF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46543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9AC57-CBC8-0666-018A-573AB2247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9DE04-57B5-2155-D4D9-183057032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41616-442A-6CD3-C83A-D6ACEEE12C0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EF1578E-AE19-94D5-E36A-675C2EFF98B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1087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940A082-4684-4755-95F7-E2D49E30FC5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02D87AB-D43F-42ED-868D-8384360CA19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BC0EAFF-129D-4B9E-BE1D-3CF07B41861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8BBF67-21BF-4D80-AEAD-EFD6BCB0B71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3895F153-B241-4558-8006-B21DEFF1E33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474F2FC-AD64-4052-84E2-5A638E30586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8B010DD6-DEB5-4F18-9182-BD61D369917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FD9210A-5DD0-4B39-A87A-B55F8A9216C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7FA52B7-CBD5-4664-A174-9ADDE99BB23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8F75DD5-950C-469A-8931-D795932D683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101D"/>
        </a:solidFill>
        <a:effectLst/>
      </p:bgPr>
    </p:bg>
    <p:spTree>
      <p:nvGrpSpPr>
        <p:cNvPr id="1" name=""/>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9C2FE6D9-4FAD-4024-98C9-0B1EA55F3A69}"/>
              </a:ext>
            </a:extLst>
          </p:cNvPr>
          <p:cNvCxnSpPr>
            <a:stCxn id="13" idx="3"/>
            <a:endCxn id="17" idx="1"/>
          </p:cNvCxnSpPr>
          <p:nvPr/>
        </p:nvCxnSpPr>
        <p:spPr>
          <a:xfrm>
            <a:off x="8801100" y="3648075"/>
            <a:ext cx="361950" cy="0"/>
          </a:xfrm>
          <a:prstGeom prst="straightConnector1">
            <a:avLst/>
          </a:prstGeom>
          <a:ln w="19050">
            <a:solidFill>
              <a:srgbClr val="BE80FF"/>
            </a:solidFill>
            <a:tailEnd type="triangle" w="sm" len="sm"/>
          </a:ln>
        </p:spPr>
      </p:cxnSp>
      <p:cxnSp>
        <p:nvCxnSpPr>
          <p:cNvPr id="22" name="Straight Arrow Connector 21">
            <a:extLst>
              <a:ext uri="{FF2B5EF4-FFF2-40B4-BE49-F238E27FC236}">
                <a16:creationId xmlns:a16="http://schemas.microsoft.com/office/drawing/2014/main" id="{B35917BD-93A9-4061-8D72-716045B6A007}"/>
              </a:ext>
            </a:extLst>
          </p:cNvPr>
          <p:cNvCxnSpPr>
            <a:stCxn id="9" idx="3"/>
            <a:endCxn id="13" idx="1"/>
          </p:cNvCxnSpPr>
          <p:nvPr/>
        </p:nvCxnSpPr>
        <p:spPr>
          <a:xfrm>
            <a:off x="5924550" y="3648075"/>
            <a:ext cx="361950" cy="0"/>
          </a:xfrm>
          <a:prstGeom prst="straightConnector1">
            <a:avLst/>
          </a:prstGeom>
          <a:ln w="19050">
            <a:solidFill>
              <a:srgbClr val="BE80FF"/>
            </a:solidFill>
            <a:tailEnd type="triangle" w="sm" len="sm"/>
          </a:ln>
        </p:spPr>
      </p:cxnSp>
      <p:cxnSp>
        <p:nvCxnSpPr>
          <p:cNvPr id="21" name="Straight Arrow Connector 20">
            <a:extLst>
              <a:ext uri="{FF2B5EF4-FFF2-40B4-BE49-F238E27FC236}">
                <a16:creationId xmlns:a16="http://schemas.microsoft.com/office/drawing/2014/main" id="{6553FF0E-DEDA-4784-A3CC-204925027F65}"/>
              </a:ext>
            </a:extLst>
          </p:cNvPr>
          <p:cNvCxnSpPr>
            <a:stCxn id="5" idx="3"/>
            <a:endCxn id="9" idx="1"/>
          </p:cNvCxnSpPr>
          <p:nvPr/>
        </p:nvCxnSpPr>
        <p:spPr>
          <a:xfrm>
            <a:off x="3048000" y="3648075"/>
            <a:ext cx="361950" cy="0"/>
          </a:xfrm>
          <a:prstGeom prst="straightConnector1">
            <a:avLst/>
          </a:prstGeom>
          <a:ln w="19050">
            <a:solidFill>
              <a:srgbClr val="16CFEA"/>
            </a:solidFill>
            <a:tailEnd type="triangle" w="sm" len="sm"/>
          </a:ln>
        </p:spPr>
      </p:cxnSp>
      <p:sp>
        <p:nvSpPr>
          <p:cNvPr id="30" name="Rectangle 29">
            <a:extLst>
              <a:ext uri="{FF2B5EF4-FFF2-40B4-BE49-F238E27FC236}">
                <a16:creationId xmlns:a16="http://schemas.microsoft.com/office/drawing/2014/main" id="{18575783-7287-4095-874E-5E046B554F9E}"/>
              </a:ext>
            </a:extLst>
          </p:cNvPr>
          <p:cNvSpPr>
            <a:spLocks noGrp="1"/>
          </p:cNvSpPr>
          <p:nvPr/>
        </p:nvSpPr>
        <p:spPr>
          <a:xfrm>
            <a:off x="533400" y="485775"/>
            <a:ext cx="9239250" cy="685800"/>
          </a:xfrm>
          <a:prstGeom prst="rect">
            <a:avLst/>
          </a:prstGeom>
          <a:noFill/>
          <a:ln w="0">
            <a:noFill/>
          </a:ln>
        </p:spPr>
        <p:txBody>
          <a:bodyPr lIns="0" tIns="0" rIns="0" bIns="0" anchor="t">
            <a:noAutofit/>
          </a:bodyPr>
          <a:lstStyle>
            <a:defPPr>
              <a:defRPr sz="3300" b="1">
                <a:solidFill>
                  <a:srgbClr val="F4F8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3300" b="1">
                <a:solidFill>
                  <a:srgbClr val="F4F8FF"/>
                </a:solidFill>
                <a:latin typeface="DejaVu Sans"/>
                <a:ea typeface="DejaVu Sans"/>
                <a:cs typeface="DejaVu Sans"/>
              </a:defRPr>
            </a:pPr>
            <a:r>
              <a:rPr kumimoji="0" sz="3300" b="1" i="0" u="none" strike="noStrike" kern="1200" cap="none" spc="0" normalizeH="0" baseline="0" noProof="0">
                <a:ln>
                  <a:noFill/>
                </a:ln>
                <a:solidFill>
                  <a:srgbClr val="F4F8FF"/>
                </a:solidFill>
                <a:effectLst/>
                <a:uLnTx/>
                <a:uFillTx/>
                <a:latin typeface="DejaVu Sans"/>
                <a:ea typeface="DejaVu Sans"/>
                <a:cs typeface="DejaVu Sans"/>
              </a:rPr>
              <a:t>AiNspire Employee Journey</a:t>
            </a:r>
          </a:p>
        </p:txBody>
      </p:sp>
      <p:sp>
        <p:nvSpPr>
          <p:cNvPr id="2" name="Rectangle 1">
            <a:extLst>
              <a:ext uri="{FF2B5EF4-FFF2-40B4-BE49-F238E27FC236}">
                <a16:creationId xmlns:a16="http://schemas.microsoft.com/office/drawing/2014/main" id="{06820F32-7B6E-4D42-B14D-0BAB7D7BD13D}"/>
              </a:ext>
            </a:extLst>
          </p:cNvPr>
          <p:cNvSpPr>
            <a:spLocks noGrp="1"/>
          </p:cNvSpPr>
          <p:nvPr/>
        </p:nvSpPr>
        <p:spPr>
          <a:xfrm>
            <a:off x="533400" y="1266825"/>
            <a:ext cx="10572750" cy="381000"/>
          </a:xfrm>
          <a:prstGeom prst="rect">
            <a:avLst/>
          </a:prstGeom>
          <a:noFill/>
          <a:ln w="0">
            <a:noFill/>
          </a:ln>
        </p:spPr>
        <p:txBody>
          <a:bodyPr lIns="0" tIns="0" rIns="0" bIns="0" anchor="t">
            <a:noAutofit/>
          </a:bodyPr>
          <a:lstStyle>
            <a:defPPr>
              <a:defRPr sz="2025" b="0">
                <a:solidFill>
                  <a:srgbClr val="B7C5D8"/>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B7C5D8"/>
                </a:solidFill>
                <a:latin typeface="DejaVu Sans"/>
                <a:ea typeface="DejaVu Sans"/>
                <a:cs typeface="DejaVu Sans"/>
              </a:defRPr>
            </a:pPr>
            <a:r>
              <a:rPr kumimoji="0" sz="2025" b="0" i="0" u="none" strike="noStrike" kern="1200" cap="none" spc="0" normalizeH="0" baseline="0" noProof="0">
                <a:ln>
                  <a:noFill/>
                </a:ln>
                <a:solidFill>
                  <a:srgbClr val="B7C5D8"/>
                </a:solidFill>
                <a:effectLst/>
                <a:uLnTx/>
                <a:uFillTx/>
                <a:latin typeface="DejaVu Sans"/>
                <a:ea typeface="DejaVu Sans"/>
                <a:cs typeface="DejaVu Sans"/>
              </a:rPr>
              <a:t>Understand your potential. Find your contribution.</a:t>
            </a:r>
          </a:p>
        </p:txBody>
      </p:sp>
      <p:pic>
        <p:nvPicPr>
          <p:cNvPr id="3" name="Picture 2">
            <a:extLst>
              <a:ext uri="{FF2B5EF4-FFF2-40B4-BE49-F238E27FC236}">
                <a16:creationId xmlns:a16="http://schemas.microsoft.com/office/drawing/2014/main" id="{96BBEC5B-48A1-4F96-930E-1CBDD94C84D0}"/>
              </a:ext>
            </a:extLst>
          </p:cNvPr>
          <p:cNvPicPr>
            <a:picLocks noChangeAspect="1"/>
          </p:cNvPicPr>
          <p:nvPr/>
        </p:nvPicPr>
        <p:blipFill>
          <a:blip r:embed="rId3"/>
          <a:stretch/>
        </p:blipFill>
        <p:spPr>
          <a:xfrm>
            <a:off x="9906000" y="384175"/>
            <a:ext cx="1695450" cy="565150"/>
          </a:xfrm>
          <a:prstGeom prst="rect">
            <a:avLst/>
          </a:prstGeom>
        </p:spPr>
      </p:pic>
      <p:sp>
        <p:nvSpPr>
          <p:cNvPr id="4" name="Rectangle 3">
            <a:extLst>
              <a:ext uri="{FF2B5EF4-FFF2-40B4-BE49-F238E27FC236}">
                <a16:creationId xmlns:a16="http://schemas.microsoft.com/office/drawing/2014/main" id="{7A14A538-5672-4CA6-9095-E67C2DE88901}"/>
              </a:ext>
            </a:extLst>
          </p:cNvPr>
          <p:cNvSpPr>
            <a:spLocks noGrp="1"/>
          </p:cNvSpPr>
          <p:nvPr/>
        </p:nvSpPr>
        <p:spPr>
          <a:xfrm>
            <a:off x="533400" y="1838325"/>
            <a:ext cx="2552700" cy="276225"/>
          </a:xfrm>
          <a:prstGeom prst="rect">
            <a:avLst/>
          </a:prstGeom>
          <a:noFill/>
          <a:ln w="0">
            <a:noFill/>
          </a:ln>
        </p:spPr>
        <p:txBody>
          <a:bodyPr lIns="0" tIns="0" rIns="0" bIns="0" anchor="t">
            <a:noAutofit/>
          </a:bodyPr>
          <a:lstStyle>
            <a:defPPr>
              <a:defRPr sz="1425" b="1">
                <a:solidFill>
                  <a:srgbClr val="16CFEA"/>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16CFEA"/>
                </a:solidFill>
                <a:latin typeface="DejaVu Sans"/>
                <a:ea typeface="DejaVu Sans"/>
                <a:cs typeface="DejaVu Sans"/>
              </a:defRPr>
            </a:pPr>
            <a:r>
              <a:rPr kumimoji="0" sz="1425" b="1" i="0" u="none" strike="noStrike" kern="1200" cap="none" spc="0" normalizeH="0" baseline="0" noProof="0">
                <a:ln>
                  <a:noFill/>
                </a:ln>
                <a:solidFill>
                  <a:srgbClr val="16CFEA"/>
                </a:solidFill>
                <a:effectLst/>
                <a:uLnTx/>
                <a:uFillTx/>
                <a:latin typeface="DejaVu Sans"/>
                <a:ea typeface="DejaVu Sans"/>
                <a:cs typeface="DejaVu Sans"/>
              </a:rPr>
              <a:t>START: EMPLOYEE</a:t>
            </a:r>
          </a:p>
        </p:txBody>
      </p:sp>
      <p:sp>
        <p:nvSpPr>
          <p:cNvPr id="5" name="Rectangle 4">
            <a:extLst>
              <a:ext uri="{FF2B5EF4-FFF2-40B4-BE49-F238E27FC236}">
                <a16:creationId xmlns:a16="http://schemas.microsoft.com/office/drawing/2014/main" id="{96B78E4C-4A98-4A8F-BDD4-B1ACC1E23660}"/>
              </a:ext>
            </a:extLst>
          </p:cNvPr>
          <p:cNvSpPr>
            <a:spLocks noGrp="1"/>
          </p:cNvSpPr>
          <p:nvPr/>
        </p:nvSpPr>
        <p:spPr>
          <a:xfrm>
            <a:off x="533400" y="2286000"/>
            <a:ext cx="2514600" cy="2724150"/>
          </a:xfrm>
          <a:prstGeom prst="rect">
            <a:avLst/>
          </a:prstGeom>
          <a:solidFill>
            <a:srgbClr val="101C2D"/>
          </a:solidFill>
          <a:ln w="13335">
            <a:solidFill>
              <a:srgbClr val="16CFE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srgbClr val="000000"/>
              </a:solidFill>
              <a:effectLst/>
              <a:uLnTx/>
              <a:uFillTx/>
              <a:latin typeface="Aptos"/>
              <a:ea typeface="+mn-ea"/>
              <a:cs typeface="+mn-cs"/>
            </a:endParaRPr>
          </a:p>
        </p:txBody>
      </p:sp>
      <p:sp>
        <p:nvSpPr>
          <p:cNvPr id="6" name="Rectangle 5">
            <a:extLst>
              <a:ext uri="{FF2B5EF4-FFF2-40B4-BE49-F238E27FC236}">
                <a16:creationId xmlns:a16="http://schemas.microsoft.com/office/drawing/2014/main" id="{997D7DE4-804C-4D30-A693-957A8F2F8EBF}"/>
              </a:ext>
            </a:extLst>
          </p:cNvPr>
          <p:cNvSpPr>
            <a:spLocks noGrp="1"/>
          </p:cNvSpPr>
          <p:nvPr/>
        </p:nvSpPr>
        <p:spPr>
          <a:xfrm>
            <a:off x="723900" y="2447925"/>
            <a:ext cx="428625" cy="333375"/>
          </a:xfrm>
          <a:prstGeom prst="rect">
            <a:avLst/>
          </a:prstGeom>
          <a:noFill/>
          <a:ln w="0">
            <a:noFill/>
          </a:ln>
        </p:spPr>
        <p:txBody>
          <a:bodyPr lIns="0" tIns="0" rIns="0" bIns="0" anchor="t">
            <a:noAutofit/>
          </a:bodyPr>
          <a:lstStyle>
            <a:defPPr>
              <a:defRPr sz="1875" b="1">
                <a:solidFill>
                  <a:srgbClr val="16CFEA"/>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16CFEA"/>
                </a:solidFill>
                <a:latin typeface="DejaVu Sans"/>
                <a:ea typeface="DejaVu Sans"/>
                <a:cs typeface="DejaVu Sans"/>
              </a:defRPr>
            </a:pPr>
            <a:r>
              <a:rPr kumimoji="0" sz="1875" b="1" i="0" u="none" strike="noStrike" kern="1200" cap="none" spc="0" normalizeH="0" baseline="0" noProof="0">
                <a:ln>
                  <a:noFill/>
                </a:ln>
                <a:solidFill>
                  <a:srgbClr val="16CFEA"/>
                </a:solidFill>
                <a:effectLst/>
                <a:uLnTx/>
                <a:uFillTx/>
                <a:latin typeface="DejaVu Sans"/>
                <a:ea typeface="DejaVu Sans"/>
                <a:cs typeface="DejaVu Sans"/>
              </a:rPr>
              <a:t>01</a:t>
            </a:r>
          </a:p>
        </p:txBody>
      </p:sp>
      <p:sp>
        <p:nvSpPr>
          <p:cNvPr id="7" name="Rectangle 6">
            <a:extLst>
              <a:ext uri="{FF2B5EF4-FFF2-40B4-BE49-F238E27FC236}">
                <a16:creationId xmlns:a16="http://schemas.microsoft.com/office/drawing/2014/main" id="{78C86527-A9C2-46B7-A6EB-2C414CA7BCDC}"/>
              </a:ext>
            </a:extLst>
          </p:cNvPr>
          <p:cNvSpPr>
            <a:spLocks noGrp="1"/>
          </p:cNvSpPr>
          <p:nvPr/>
        </p:nvSpPr>
        <p:spPr>
          <a:xfrm>
            <a:off x="723900" y="2828925"/>
            <a:ext cx="2209800" cy="419100"/>
          </a:xfrm>
          <a:prstGeom prst="rect">
            <a:avLst/>
          </a:prstGeom>
          <a:noFill/>
          <a:ln w="0">
            <a:noFill/>
          </a:ln>
        </p:spPr>
        <p:txBody>
          <a:bodyPr lIns="0" tIns="0" rIns="0" bIns="0" anchor="t">
            <a:noAutofit/>
          </a:bodyPr>
          <a:lstStyle>
            <a:defPPr>
              <a:defRPr sz="2325" b="1">
                <a:solidFill>
                  <a:srgbClr val="16CFEA"/>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2325" b="1">
                <a:solidFill>
                  <a:srgbClr val="16CFEA"/>
                </a:solidFill>
                <a:latin typeface="DejaVu Sans"/>
                <a:ea typeface="DejaVu Sans"/>
                <a:cs typeface="DejaVu Sans"/>
              </a:defRPr>
            </a:pPr>
            <a:r>
              <a:rPr kumimoji="0" sz="2325" b="1" i="0" u="none" strike="noStrike" kern="1200" cap="none" spc="0" normalizeH="0" baseline="0" noProof="0">
                <a:ln>
                  <a:noFill/>
                </a:ln>
                <a:solidFill>
                  <a:srgbClr val="16CFEA"/>
                </a:solidFill>
                <a:effectLst/>
                <a:uLnTx/>
                <a:uFillTx/>
                <a:latin typeface="DejaVu Sans"/>
                <a:ea typeface="DejaVu Sans"/>
                <a:cs typeface="DejaVu Sans"/>
              </a:rPr>
              <a:t>Understand</a:t>
            </a:r>
          </a:p>
        </p:txBody>
      </p:sp>
      <p:sp>
        <p:nvSpPr>
          <p:cNvPr id="8" name="Rectangle 7">
            <a:extLst>
              <a:ext uri="{FF2B5EF4-FFF2-40B4-BE49-F238E27FC236}">
                <a16:creationId xmlns:a16="http://schemas.microsoft.com/office/drawing/2014/main" id="{CA322479-BE00-4F4A-8703-D26B224E66EE}"/>
              </a:ext>
            </a:extLst>
          </p:cNvPr>
          <p:cNvSpPr>
            <a:spLocks noGrp="1"/>
          </p:cNvSpPr>
          <p:nvPr/>
        </p:nvSpPr>
        <p:spPr>
          <a:xfrm>
            <a:off x="723900" y="3409950"/>
            <a:ext cx="2171700" cy="1476375"/>
          </a:xfrm>
          <a:prstGeom prst="rect">
            <a:avLst/>
          </a:prstGeom>
          <a:noFill/>
          <a:ln w="0">
            <a:noFill/>
          </a:ln>
        </p:spPr>
        <p:txBody>
          <a:bodyPr lIns="0" tIns="0" rIns="0" bIns="0" anchor="t">
            <a:noAutofit/>
          </a:bodyPr>
          <a:lstStyle>
            <a:defPPr>
              <a:defRPr sz="1725" b="0">
                <a:solidFill>
                  <a:srgbClr val="F4F8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Complete assessment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25" b="0" i="0" u="none" strike="noStrike" kern="1200" cap="none" spc="0" normalizeH="0" baseline="0" noProof="0">
              <a:ln>
                <a:noFill/>
              </a:ln>
              <a:solidFill>
                <a:srgbClr val="F4F8FF"/>
              </a:solidFill>
              <a:effectLst/>
              <a:uLnTx/>
              <a:uFillTx/>
              <a:latin typeface="DejaVu Sans"/>
              <a:ea typeface="DejaVu Sans"/>
              <a:cs typeface="DejaVu Sans"/>
            </a:endParaRP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View AI persona</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and confidence</a:t>
            </a:r>
          </a:p>
        </p:txBody>
      </p:sp>
      <p:sp>
        <p:nvSpPr>
          <p:cNvPr id="9" name="Rectangle 8">
            <a:extLst>
              <a:ext uri="{FF2B5EF4-FFF2-40B4-BE49-F238E27FC236}">
                <a16:creationId xmlns:a16="http://schemas.microsoft.com/office/drawing/2014/main" id="{0BA8B6D2-6D58-4EFE-9AD2-398E98A114EB}"/>
              </a:ext>
            </a:extLst>
          </p:cNvPr>
          <p:cNvSpPr>
            <a:spLocks noGrp="1"/>
          </p:cNvSpPr>
          <p:nvPr/>
        </p:nvSpPr>
        <p:spPr>
          <a:xfrm>
            <a:off x="3409950" y="2286000"/>
            <a:ext cx="2514600" cy="2724150"/>
          </a:xfrm>
          <a:prstGeom prst="rect">
            <a:avLst/>
          </a:prstGeom>
          <a:solidFill>
            <a:srgbClr val="101C2D"/>
          </a:solidFill>
          <a:ln w="13335">
            <a:solidFill>
              <a:srgbClr val="16CFE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Rectangle 9">
            <a:extLst>
              <a:ext uri="{FF2B5EF4-FFF2-40B4-BE49-F238E27FC236}">
                <a16:creationId xmlns:a16="http://schemas.microsoft.com/office/drawing/2014/main" id="{51EAF937-7B44-4755-856B-7B4BDBCE6ACD}"/>
              </a:ext>
            </a:extLst>
          </p:cNvPr>
          <p:cNvSpPr>
            <a:spLocks noGrp="1"/>
          </p:cNvSpPr>
          <p:nvPr/>
        </p:nvSpPr>
        <p:spPr>
          <a:xfrm>
            <a:off x="3600450" y="2447925"/>
            <a:ext cx="428625" cy="333375"/>
          </a:xfrm>
          <a:prstGeom prst="rect">
            <a:avLst/>
          </a:prstGeom>
          <a:noFill/>
          <a:ln w="0">
            <a:noFill/>
          </a:ln>
        </p:spPr>
        <p:txBody>
          <a:bodyPr lIns="0" tIns="0" rIns="0" bIns="0" anchor="t">
            <a:noAutofit/>
          </a:bodyPr>
          <a:lstStyle>
            <a:defPPr>
              <a:defRPr sz="1875" b="1">
                <a:solidFill>
                  <a:srgbClr val="16CFEA"/>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16CFEA"/>
                </a:solidFill>
                <a:latin typeface="DejaVu Sans"/>
                <a:ea typeface="DejaVu Sans"/>
                <a:cs typeface="DejaVu Sans"/>
              </a:defRPr>
            </a:pPr>
            <a:r>
              <a:rPr kumimoji="0" sz="1875" b="1" i="0" u="none" strike="noStrike" kern="1200" cap="none" spc="0" normalizeH="0" baseline="0" noProof="0">
                <a:ln>
                  <a:noFill/>
                </a:ln>
                <a:solidFill>
                  <a:srgbClr val="16CFEA"/>
                </a:solidFill>
                <a:effectLst/>
                <a:uLnTx/>
                <a:uFillTx/>
                <a:latin typeface="DejaVu Sans"/>
                <a:ea typeface="DejaVu Sans"/>
                <a:cs typeface="DejaVu Sans"/>
              </a:rPr>
              <a:t>02</a:t>
            </a:r>
          </a:p>
        </p:txBody>
      </p:sp>
      <p:sp>
        <p:nvSpPr>
          <p:cNvPr id="11" name="Rectangle 10">
            <a:extLst>
              <a:ext uri="{FF2B5EF4-FFF2-40B4-BE49-F238E27FC236}">
                <a16:creationId xmlns:a16="http://schemas.microsoft.com/office/drawing/2014/main" id="{37FA8886-96EA-4283-BB20-CFDA6F67C648}"/>
              </a:ext>
            </a:extLst>
          </p:cNvPr>
          <p:cNvSpPr>
            <a:spLocks noGrp="1"/>
          </p:cNvSpPr>
          <p:nvPr/>
        </p:nvSpPr>
        <p:spPr>
          <a:xfrm>
            <a:off x="3600450" y="2828925"/>
            <a:ext cx="2209800" cy="419100"/>
          </a:xfrm>
          <a:prstGeom prst="rect">
            <a:avLst/>
          </a:prstGeom>
          <a:noFill/>
          <a:ln w="0">
            <a:noFill/>
          </a:ln>
        </p:spPr>
        <p:txBody>
          <a:bodyPr lIns="0" tIns="0" rIns="0" bIns="0" anchor="t">
            <a:noAutofit/>
          </a:bodyPr>
          <a:lstStyle>
            <a:defPPr>
              <a:defRPr sz="2325" b="1">
                <a:solidFill>
                  <a:srgbClr val="16CFEA"/>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2325" b="1">
                <a:solidFill>
                  <a:srgbClr val="16CFEA"/>
                </a:solidFill>
                <a:latin typeface="DejaVu Sans"/>
                <a:ea typeface="DejaVu Sans"/>
                <a:cs typeface="DejaVu Sans"/>
              </a:defRPr>
            </a:pPr>
            <a:r>
              <a:rPr kumimoji="0" sz="2325" b="1" i="0" u="none" strike="noStrike" kern="1200" cap="none" spc="0" normalizeH="0" baseline="0" noProof="0">
                <a:ln>
                  <a:noFill/>
                </a:ln>
                <a:solidFill>
                  <a:srgbClr val="16CFEA"/>
                </a:solidFill>
                <a:effectLst/>
                <a:uLnTx/>
                <a:uFillTx/>
                <a:latin typeface="DejaVu Sans"/>
                <a:ea typeface="DejaVu Sans"/>
                <a:cs typeface="DejaVu Sans"/>
              </a:rPr>
              <a:t>Develop</a:t>
            </a:r>
          </a:p>
        </p:txBody>
      </p:sp>
      <p:sp>
        <p:nvSpPr>
          <p:cNvPr id="12" name="Rectangle 11">
            <a:extLst>
              <a:ext uri="{FF2B5EF4-FFF2-40B4-BE49-F238E27FC236}">
                <a16:creationId xmlns:a16="http://schemas.microsoft.com/office/drawing/2014/main" id="{6C2F8158-8910-4873-B20C-A6D16ECC2AB5}"/>
              </a:ext>
            </a:extLst>
          </p:cNvPr>
          <p:cNvSpPr>
            <a:spLocks noGrp="1"/>
          </p:cNvSpPr>
          <p:nvPr/>
        </p:nvSpPr>
        <p:spPr>
          <a:xfrm>
            <a:off x="3600450" y="3409950"/>
            <a:ext cx="2171700" cy="1476375"/>
          </a:xfrm>
          <a:prstGeom prst="rect">
            <a:avLst/>
          </a:prstGeom>
          <a:noFill/>
          <a:ln w="0">
            <a:noFill/>
          </a:ln>
        </p:spPr>
        <p:txBody>
          <a:bodyPr lIns="0" tIns="0" rIns="0" bIns="0" anchor="t">
            <a:noAutofit/>
          </a:bodyPr>
          <a:lstStyle>
            <a:defPPr>
              <a:defRPr sz="1725" b="0">
                <a:solidFill>
                  <a:srgbClr val="F4F8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View personalised</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learning pathway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25" b="0" i="0" u="none" strike="noStrike" kern="1200" cap="none" spc="0" normalizeH="0" baseline="0" noProof="0">
              <a:ln>
                <a:noFill/>
              </a:ln>
              <a:solidFill>
                <a:srgbClr val="F4F8FF"/>
              </a:solidFill>
              <a:effectLst/>
              <a:uLnTx/>
              <a:uFillTx/>
              <a:latin typeface="DejaVu Sans"/>
              <a:ea typeface="DejaVu Sans"/>
              <a:cs typeface="DejaVu Sans"/>
            </a:endParaRP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Complete learning</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and record progress</a:t>
            </a:r>
          </a:p>
        </p:txBody>
      </p:sp>
      <p:sp>
        <p:nvSpPr>
          <p:cNvPr id="13" name="Rectangle 12">
            <a:extLst>
              <a:ext uri="{FF2B5EF4-FFF2-40B4-BE49-F238E27FC236}">
                <a16:creationId xmlns:a16="http://schemas.microsoft.com/office/drawing/2014/main" id="{E14A6BDE-10D2-4EE1-971E-103EF3094B9F}"/>
              </a:ext>
            </a:extLst>
          </p:cNvPr>
          <p:cNvSpPr>
            <a:spLocks noGrp="1"/>
          </p:cNvSpPr>
          <p:nvPr/>
        </p:nvSpPr>
        <p:spPr>
          <a:xfrm>
            <a:off x="6286500" y="2286000"/>
            <a:ext cx="2514600" cy="2724150"/>
          </a:xfrm>
          <a:prstGeom prst="rect">
            <a:avLst/>
          </a:prstGeom>
          <a:solidFill>
            <a:srgbClr val="101C2D"/>
          </a:solidFill>
          <a:ln w="13335">
            <a:solidFill>
              <a:srgbClr val="BE80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Rectangle 13">
            <a:extLst>
              <a:ext uri="{FF2B5EF4-FFF2-40B4-BE49-F238E27FC236}">
                <a16:creationId xmlns:a16="http://schemas.microsoft.com/office/drawing/2014/main" id="{F5D6B0F9-4563-4B58-9C64-2B89B79EB38D}"/>
              </a:ext>
            </a:extLst>
          </p:cNvPr>
          <p:cNvSpPr>
            <a:spLocks noGrp="1"/>
          </p:cNvSpPr>
          <p:nvPr/>
        </p:nvSpPr>
        <p:spPr>
          <a:xfrm>
            <a:off x="6477000" y="2447925"/>
            <a:ext cx="428625" cy="333375"/>
          </a:xfrm>
          <a:prstGeom prst="rect">
            <a:avLst/>
          </a:prstGeom>
          <a:noFill/>
          <a:ln w="0">
            <a:noFill/>
          </a:ln>
        </p:spPr>
        <p:txBody>
          <a:bodyPr lIns="0" tIns="0" rIns="0" bIns="0" anchor="t">
            <a:noAutofit/>
          </a:bodyPr>
          <a:lstStyle>
            <a:defPPr>
              <a:defRPr sz="1875" b="1">
                <a:solidFill>
                  <a:srgbClr val="BE80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BE80FF"/>
                </a:solidFill>
                <a:latin typeface="DejaVu Sans"/>
                <a:ea typeface="DejaVu Sans"/>
                <a:cs typeface="DejaVu Sans"/>
              </a:defRPr>
            </a:pPr>
            <a:r>
              <a:rPr kumimoji="0" sz="1875" b="1" i="0" u="none" strike="noStrike" kern="1200" cap="none" spc="0" normalizeH="0" baseline="0" noProof="0">
                <a:ln>
                  <a:noFill/>
                </a:ln>
                <a:solidFill>
                  <a:srgbClr val="BE80FF"/>
                </a:solidFill>
                <a:effectLst/>
                <a:uLnTx/>
                <a:uFillTx/>
                <a:latin typeface="DejaVu Sans"/>
                <a:ea typeface="DejaVu Sans"/>
                <a:cs typeface="DejaVu Sans"/>
              </a:rPr>
              <a:t>03</a:t>
            </a:r>
          </a:p>
        </p:txBody>
      </p:sp>
      <p:sp>
        <p:nvSpPr>
          <p:cNvPr id="15" name="Rectangle 14">
            <a:extLst>
              <a:ext uri="{FF2B5EF4-FFF2-40B4-BE49-F238E27FC236}">
                <a16:creationId xmlns:a16="http://schemas.microsoft.com/office/drawing/2014/main" id="{5FC13CD0-0260-4B51-BB34-61EEA1D4CD6B}"/>
              </a:ext>
            </a:extLst>
          </p:cNvPr>
          <p:cNvSpPr>
            <a:spLocks noGrp="1"/>
          </p:cNvSpPr>
          <p:nvPr/>
        </p:nvSpPr>
        <p:spPr>
          <a:xfrm>
            <a:off x="6477000" y="2828925"/>
            <a:ext cx="2209800" cy="419100"/>
          </a:xfrm>
          <a:prstGeom prst="rect">
            <a:avLst/>
          </a:prstGeom>
          <a:noFill/>
          <a:ln w="0">
            <a:noFill/>
          </a:ln>
        </p:spPr>
        <p:txBody>
          <a:bodyPr lIns="0" tIns="0" rIns="0" bIns="0" anchor="t">
            <a:noAutofit/>
          </a:bodyPr>
          <a:lstStyle>
            <a:defPPr>
              <a:defRPr sz="2325" b="1">
                <a:solidFill>
                  <a:srgbClr val="BE80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2325" b="1">
                <a:solidFill>
                  <a:srgbClr val="BE80FF"/>
                </a:solidFill>
                <a:latin typeface="DejaVu Sans"/>
                <a:ea typeface="DejaVu Sans"/>
                <a:cs typeface="DejaVu Sans"/>
              </a:defRPr>
            </a:pPr>
            <a:r>
              <a:rPr kumimoji="0" sz="2325" b="1" i="0" u="none" strike="noStrike" kern="1200" cap="none" spc="0" normalizeH="0" baseline="0" noProof="0">
                <a:ln>
                  <a:noFill/>
                </a:ln>
                <a:solidFill>
                  <a:srgbClr val="BE80FF"/>
                </a:solidFill>
                <a:effectLst/>
                <a:uLnTx/>
                <a:uFillTx/>
                <a:latin typeface="DejaVu Sans"/>
                <a:ea typeface="DejaVu Sans"/>
                <a:cs typeface="DejaVu Sans"/>
              </a:rPr>
              <a:t>Deploy</a:t>
            </a:r>
          </a:p>
        </p:txBody>
      </p:sp>
      <p:sp>
        <p:nvSpPr>
          <p:cNvPr id="16" name="Rectangle 15">
            <a:extLst>
              <a:ext uri="{FF2B5EF4-FFF2-40B4-BE49-F238E27FC236}">
                <a16:creationId xmlns:a16="http://schemas.microsoft.com/office/drawing/2014/main" id="{0B217DB0-4408-4546-80AD-F74D2E3A17A1}"/>
              </a:ext>
            </a:extLst>
          </p:cNvPr>
          <p:cNvSpPr>
            <a:spLocks noGrp="1"/>
          </p:cNvSpPr>
          <p:nvPr/>
        </p:nvSpPr>
        <p:spPr>
          <a:xfrm>
            <a:off x="6477000" y="3409950"/>
            <a:ext cx="2171700" cy="1476375"/>
          </a:xfrm>
          <a:prstGeom prst="rect">
            <a:avLst/>
          </a:prstGeom>
          <a:noFill/>
          <a:ln w="0">
            <a:noFill/>
          </a:ln>
        </p:spPr>
        <p:txBody>
          <a:bodyPr lIns="0" tIns="0" rIns="0" bIns="0" anchor="t">
            <a:noAutofit/>
          </a:bodyPr>
          <a:lstStyle>
            <a:defPPr>
              <a:defRPr sz="1725" b="0">
                <a:solidFill>
                  <a:srgbClr val="F4F8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View matching role</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and AI projects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25" b="0" i="0" u="none" strike="noStrike" kern="1200" cap="none" spc="0" normalizeH="0" baseline="0" noProof="0">
              <a:ln>
                <a:noFill/>
              </a:ln>
              <a:solidFill>
                <a:srgbClr val="F4F8FF"/>
              </a:solidFill>
              <a:effectLst/>
              <a:uLnTx/>
              <a:uFillTx/>
              <a:latin typeface="DejaVu Sans"/>
              <a:ea typeface="DejaVu Sans"/>
              <a:cs typeface="DejaVu Sans"/>
            </a:endParaRP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Show interest for</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supervisor review</a:t>
            </a:r>
          </a:p>
        </p:txBody>
      </p:sp>
      <p:sp>
        <p:nvSpPr>
          <p:cNvPr id="17" name="Rectangle 16">
            <a:extLst>
              <a:ext uri="{FF2B5EF4-FFF2-40B4-BE49-F238E27FC236}">
                <a16:creationId xmlns:a16="http://schemas.microsoft.com/office/drawing/2014/main" id="{52676E8E-8D73-46D5-92CE-61FB8AECE915}"/>
              </a:ext>
            </a:extLst>
          </p:cNvPr>
          <p:cNvSpPr>
            <a:spLocks noGrp="1"/>
          </p:cNvSpPr>
          <p:nvPr/>
        </p:nvSpPr>
        <p:spPr>
          <a:xfrm>
            <a:off x="9163050" y="2286000"/>
            <a:ext cx="2514600" cy="2724150"/>
          </a:xfrm>
          <a:prstGeom prst="rect">
            <a:avLst/>
          </a:prstGeom>
          <a:solidFill>
            <a:srgbClr val="101C2D"/>
          </a:solidFill>
          <a:ln w="13335">
            <a:solidFill>
              <a:srgbClr val="BE80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Rectangle 17">
            <a:extLst>
              <a:ext uri="{FF2B5EF4-FFF2-40B4-BE49-F238E27FC236}">
                <a16:creationId xmlns:a16="http://schemas.microsoft.com/office/drawing/2014/main" id="{996E26F3-B2E0-4096-96DC-F9FBB0E641DD}"/>
              </a:ext>
            </a:extLst>
          </p:cNvPr>
          <p:cNvSpPr>
            <a:spLocks noGrp="1"/>
          </p:cNvSpPr>
          <p:nvPr/>
        </p:nvSpPr>
        <p:spPr>
          <a:xfrm>
            <a:off x="9353550" y="2447925"/>
            <a:ext cx="428625" cy="333375"/>
          </a:xfrm>
          <a:prstGeom prst="rect">
            <a:avLst/>
          </a:prstGeom>
          <a:noFill/>
          <a:ln w="0">
            <a:noFill/>
          </a:ln>
        </p:spPr>
        <p:txBody>
          <a:bodyPr lIns="0" tIns="0" rIns="0" bIns="0" anchor="t">
            <a:noAutofit/>
          </a:bodyPr>
          <a:lstStyle>
            <a:defPPr>
              <a:defRPr sz="1875" b="1">
                <a:solidFill>
                  <a:srgbClr val="BE80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BE80FF"/>
                </a:solidFill>
                <a:latin typeface="DejaVu Sans"/>
                <a:ea typeface="DejaVu Sans"/>
                <a:cs typeface="DejaVu Sans"/>
              </a:defRPr>
            </a:pPr>
            <a:r>
              <a:rPr kumimoji="0" sz="1875" b="1" i="0" u="none" strike="noStrike" kern="1200" cap="none" spc="0" normalizeH="0" baseline="0" noProof="0">
                <a:ln>
                  <a:noFill/>
                </a:ln>
                <a:solidFill>
                  <a:srgbClr val="BE80FF"/>
                </a:solidFill>
                <a:effectLst/>
                <a:uLnTx/>
                <a:uFillTx/>
                <a:latin typeface="DejaVu Sans"/>
                <a:ea typeface="DejaVu Sans"/>
                <a:cs typeface="DejaVu Sans"/>
              </a:rPr>
              <a:t>04</a:t>
            </a:r>
          </a:p>
        </p:txBody>
      </p:sp>
      <p:sp>
        <p:nvSpPr>
          <p:cNvPr id="19" name="Rectangle 18">
            <a:extLst>
              <a:ext uri="{FF2B5EF4-FFF2-40B4-BE49-F238E27FC236}">
                <a16:creationId xmlns:a16="http://schemas.microsoft.com/office/drawing/2014/main" id="{E046D136-23B8-45FD-8D81-6BECCD94E078}"/>
              </a:ext>
            </a:extLst>
          </p:cNvPr>
          <p:cNvSpPr>
            <a:spLocks noGrp="1"/>
          </p:cNvSpPr>
          <p:nvPr/>
        </p:nvSpPr>
        <p:spPr>
          <a:xfrm>
            <a:off x="9353550" y="2828925"/>
            <a:ext cx="2209800" cy="419100"/>
          </a:xfrm>
          <a:prstGeom prst="rect">
            <a:avLst/>
          </a:prstGeom>
          <a:noFill/>
          <a:ln w="0">
            <a:noFill/>
          </a:ln>
        </p:spPr>
        <p:txBody>
          <a:bodyPr lIns="0" tIns="0" rIns="0" bIns="0" anchor="t">
            <a:noAutofit/>
          </a:bodyPr>
          <a:lstStyle>
            <a:defPPr>
              <a:defRPr sz="2325" b="1">
                <a:solidFill>
                  <a:srgbClr val="BE80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2325" b="1">
                <a:solidFill>
                  <a:srgbClr val="BE80FF"/>
                </a:solidFill>
                <a:latin typeface="DejaVu Sans"/>
                <a:ea typeface="DejaVu Sans"/>
                <a:cs typeface="DejaVu Sans"/>
              </a:defRPr>
            </a:pPr>
            <a:r>
              <a:rPr kumimoji="0" sz="2325" b="1" i="0" u="none" strike="noStrike" kern="1200" cap="none" spc="0" normalizeH="0" baseline="0" noProof="0">
                <a:ln>
                  <a:noFill/>
                </a:ln>
                <a:solidFill>
                  <a:srgbClr val="BE80FF"/>
                </a:solidFill>
                <a:effectLst/>
                <a:uLnTx/>
                <a:uFillTx/>
                <a:latin typeface="DejaVu Sans"/>
                <a:ea typeface="DejaVu Sans"/>
                <a:cs typeface="DejaVu Sans"/>
              </a:rPr>
              <a:t>Measure</a:t>
            </a:r>
          </a:p>
        </p:txBody>
      </p:sp>
      <p:sp>
        <p:nvSpPr>
          <p:cNvPr id="20" name="Rectangle 19">
            <a:extLst>
              <a:ext uri="{FF2B5EF4-FFF2-40B4-BE49-F238E27FC236}">
                <a16:creationId xmlns:a16="http://schemas.microsoft.com/office/drawing/2014/main" id="{05E920F4-80F5-4A83-A8EB-A30C0DEBD95A}"/>
              </a:ext>
            </a:extLst>
          </p:cNvPr>
          <p:cNvSpPr>
            <a:spLocks noGrp="1"/>
          </p:cNvSpPr>
          <p:nvPr/>
        </p:nvSpPr>
        <p:spPr>
          <a:xfrm>
            <a:off x="9353550" y="3409950"/>
            <a:ext cx="2171700" cy="1476375"/>
          </a:xfrm>
          <a:prstGeom prst="rect">
            <a:avLst/>
          </a:prstGeom>
          <a:noFill/>
          <a:ln w="0">
            <a:noFill/>
          </a:ln>
        </p:spPr>
        <p:txBody>
          <a:bodyPr lIns="0" tIns="0" rIns="0" bIns="0" anchor="t">
            <a:noAutofit/>
          </a:bodyPr>
          <a:lstStyle>
            <a:defPPr>
              <a:defRPr sz="1725" b="0">
                <a:solidFill>
                  <a:srgbClr val="F4F8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Complete assigned</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project work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25" b="0" i="0" u="none" strike="noStrike" kern="1200" cap="none" spc="0" normalizeH="0" baseline="0" noProof="0">
              <a:ln>
                <a:noFill/>
              </a:ln>
              <a:solidFill>
                <a:srgbClr val="F4F8FF"/>
              </a:solidFill>
              <a:effectLst/>
              <a:uLnTx/>
              <a:uFillTx/>
              <a:latin typeface="DejaVu Sans"/>
              <a:ea typeface="DejaVu Sans"/>
              <a:cs typeface="DejaVu Sans"/>
            </a:endParaRP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Review contribution</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F4F8FF"/>
                </a:solidFill>
                <a:latin typeface="DejaVu Sans"/>
                <a:ea typeface="DejaVu Sans"/>
                <a:cs typeface="DejaVu Sans"/>
              </a:defRPr>
            </a:pPr>
            <a:r>
              <a:rPr kumimoji="0" sz="1725" b="0" i="0" u="none" strike="noStrike" kern="1200" cap="none" spc="0" normalizeH="0" baseline="0" noProof="0">
                <a:ln>
                  <a:noFill/>
                </a:ln>
                <a:solidFill>
                  <a:srgbClr val="F4F8FF"/>
                </a:solidFill>
                <a:effectLst/>
                <a:uLnTx/>
                <a:uFillTx/>
                <a:latin typeface="DejaVu Sans"/>
                <a:ea typeface="DejaVu Sans"/>
                <a:cs typeface="DejaVu Sans"/>
              </a:rPr>
              <a:t>outcomes</a:t>
            </a:r>
          </a:p>
        </p:txBody>
      </p:sp>
      <p:sp>
        <p:nvSpPr>
          <p:cNvPr id="24" name="Rectangle 23">
            <a:extLst>
              <a:ext uri="{FF2B5EF4-FFF2-40B4-BE49-F238E27FC236}">
                <a16:creationId xmlns:a16="http://schemas.microsoft.com/office/drawing/2014/main" id="{42DECDA6-4D79-4964-BE55-21F816A00735}"/>
              </a:ext>
            </a:extLst>
          </p:cNvPr>
          <p:cNvSpPr>
            <a:spLocks noGrp="1"/>
          </p:cNvSpPr>
          <p:nvPr/>
        </p:nvSpPr>
        <p:spPr>
          <a:xfrm>
            <a:off x="8067675" y="2028825"/>
            <a:ext cx="3238500" cy="247650"/>
          </a:xfrm>
          <a:prstGeom prst="rect">
            <a:avLst/>
          </a:prstGeom>
          <a:noFill/>
          <a:ln w="0">
            <a:noFill/>
          </a:ln>
        </p:spPr>
        <p:txBody>
          <a:bodyPr lIns="0" tIns="0" rIns="0" bIns="0" anchor="t">
            <a:noAutofit/>
          </a:bodyPr>
          <a:lstStyle>
            <a:defPPr>
              <a:defRPr sz="1275" b="1">
                <a:solidFill>
                  <a:srgbClr val="BE80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275" b="1">
                <a:solidFill>
                  <a:srgbClr val="BE80FF"/>
                </a:solidFill>
                <a:latin typeface="DejaVu Sans"/>
                <a:ea typeface="DejaVu Sans"/>
                <a:cs typeface="DejaVu Sans"/>
              </a:defRPr>
            </a:pPr>
            <a:r>
              <a:rPr kumimoji="0" sz="1275" b="1" i="0" u="none" strike="noStrike" kern="1200" cap="none" spc="0" normalizeH="0" baseline="0" noProof="0">
                <a:ln>
                  <a:noFill/>
                </a:ln>
                <a:solidFill>
                  <a:srgbClr val="BE80FF"/>
                </a:solidFill>
                <a:effectLst/>
                <a:uLnTx/>
                <a:uFillTx/>
                <a:latin typeface="DejaVu Sans"/>
                <a:ea typeface="DejaVu Sans"/>
                <a:cs typeface="DejaVu Sans"/>
              </a:rPr>
              <a:t>Approved, then assigned</a:t>
            </a:r>
          </a:p>
        </p:txBody>
      </p:sp>
      <p:sp>
        <p:nvSpPr>
          <p:cNvPr id="25" name="Rectangle 24">
            <a:extLst>
              <a:ext uri="{FF2B5EF4-FFF2-40B4-BE49-F238E27FC236}">
                <a16:creationId xmlns:a16="http://schemas.microsoft.com/office/drawing/2014/main" id="{5A2BA836-E9A2-4454-AE4F-1CCEB8967019}"/>
              </a:ext>
            </a:extLst>
          </p:cNvPr>
          <p:cNvSpPr>
            <a:spLocks noGrp="1"/>
          </p:cNvSpPr>
          <p:nvPr/>
        </p:nvSpPr>
        <p:spPr>
          <a:xfrm>
            <a:off x="6286500" y="5257800"/>
            <a:ext cx="2857500" cy="266700"/>
          </a:xfrm>
          <a:prstGeom prst="rect">
            <a:avLst/>
          </a:prstGeom>
          <a:noFill/>
          <a:ln w="0">
            <a:noFill/>
          </a:ln>
        </p:spPr>
        <p:txBody>
          <a:bodyPr lIns="0" tIns="0" rIns="0" bIns="0" anchor="t">
            <a:noAutofit/>
          </a:bodyPr>
          <a:lstStyle>
            <a:defPPr>
              <a:defRPr sz="1425" b="1">
                <a:solidFill>
                  <a:srgbClr val="BE80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BE80FF"/>
                </a:solidFill>
                <a:latin typeface="DejaVu Sans"/>
                <a:ea typeface="DejaVu Sans"/>
                <a:cs typeface="DejaVu Sans"/>
              </a:defRPr>
            </a:pPr>
            <a:r>
              <a:rPr kumimoji="0" sz="1425" b="1" i="0" u="none" strike="noStrike" kern="1200" cap="none" spc="0" normalizeH="0" baseline="0" noProof="0">
                <a:ln>
                  <a:noFill/>
                </a:ln>
                <a:solidFill>
                  <a:srgbClr val="BE80FF"/>
                </a:solidFill>
                <a:effectLst/>
                <a:uLnTx/>
                <a:uFillTx/>
                <a:latin typeface="DejaVu Sans"/>
                <a:ea typeface="DejaVu Sans"/>
                <a:cs typeface="DejaVu Sans"/>
              </a:rPr>
              <a:t>SUPERVISOR DECISION</a:t>
            </a:r>
          </a:p>
        </p:txBody>
      </p:sp>
      <p:sp>
        <p:nvSpPr>
          <p:cNvPr id="26" name="Rectangle 25">
            <a:extLst>
              <a:ext uri="{FF2B5EF4-FFF2-40B4-BE49-F238E27FC236}">
                <a16:creationId xmlns:a16="http://schemas.microsoft.com/office/drawing/2014/main" id="{ABCBAC4D-74F6-44A6-9F0D-2E9D10C68BC0}"/>
              </a:ext>
            </a:extLst>
          </p:cNvPr>
          <p:cNvSpPr>
            <a:spLocks noGrp="1"/>
          </p:cNvSpPr>
          <p:nvPr/>
        </p:nvSpPr>
        <p:spPr>
          <a:xfrm>
            <a:off x="6286500" y="5600700"/>
            <a:ext cx="5381625" cy="638175"/>
          </a:xfrm>
          <a:prstGeom prst="rect">
            <a:avLst/>
          </a:prstGeom>
          <a:noFill/>
          <a:ln w="0">
            <a:noFill/>
          </a:ln>
        </p:spPr>
        <p:txBody>
          <a:bodyPr lIns="0" tIns="0" rIns="0" bIns="0" anchor="t">
            <a:noAutofit/>
          </a:bodyPr>
          <a:lstStyle>
            <a:defPPr>
              <a:defRPr sz="1500" b="0">
                <a:solidFill>
                  <a:srgbClr val="B7C5D8"/>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B7C5D8"/>
                </a:solidFill>
                <a:latin typeface="DejaVu Sans"/>
                <a:ea typeface="DejaVu Sans"/>
                <a:cs typeface="DejaVu Sans"/>
              </a:defRPr>
            </a:pPr>
            <a:r>
              <a:rPr kumimoji="0" sz="1500" b="0" i="0" u="none" strike="noStrike" kern="1200" cap="none" spc="0" normalizeH="0" baseline="0" noProof="0">
                <a:ln>
                  <a:noFill/>
                </a:ln>
                <a:solidFill>
                  <a:srgbClr val="B7C5D8"/>
                </a:solidFill>
                <a:effectLst/>
                <a:uLnTx/>
                <a:uFillTx/>
                <a:latin typeface="DejaVu Sans"/>
                <a:ea typeface="DejaVu Sans"/>
                <a:cs typeface="DejaVu Sans"/>
              </a:rPr>
              <a:t>Approved: confirm capacity and assignment</a:t>
            </a:r>
          </a:p>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B7C5D8"/>
                </a:solidFill>
                <a:latin typeface="DejaVu Sans"/>
                <a:ea typeface="DejaVu Sans"/>
                <a:cs typeface="DejaVu Sans"/>
              </a:defRPr>
            </a:pPr>
            <a:r>
              <a:rPr kumimoji="0" sz="1500" b="0" i="0" u="none" strike="noStrike" kern="1200" cap="none" spc="0" normalizeH="0" baseline="0" noProof="0">
                <a:ln>
                  <a:noFill/>
                </a:ln>
                <a:solidFill>
                  <a:srgbClr val="B7C5D8"/>
                </a:solidFill>
                <a:effectLst/>
                <a:uLnTx/>
                <a:uFillTx/>
                <a:latin typeface="DejaVu Sans"/>
                <a:ea typeface="DejaVu Sans"/>
                <a:cs typeface="DejaVu Sans"/>
              </a:rPr>
              <a:t>Rejected: agree support or another project</a:t>
            </a:r>
          </a:p>
        </p:txBody>
      </p:sp>
      <p:sp>
        <p:nvSpPr>
          <p:cNvPr id="27" name="Rectangle 26">
            <a:extLst>
              <a:ext uri="{FF2B5EF4-FFF2-40B4-BE49-F238E27FC236}">
                <a16:creationId xmlns:a16="http://schemas.microsoft.com/office/drawing/2014/main" id="{3CB2A5C1-346D-4C49-A572-8483E6608747}"/>
              </a:ext>
            </a:extLst>
          </p:cNvPr>
          <p:cNvSpPr>
            <a:spLocks noGrp="1"/>
          </p:cNvSpPr>
          <p:nvPr/>
        </p:nvSpPr>
        <p:spPr>
          <a:xfrm>
            <a:off x="533400" y="5305425"/>
            <a:ext cx="5486400" cy="352425"/>
          </a:xfrm>
          <a:prstGeom prst="rect">
            <a:avLst/>
          </a:prstGeom>
          <a:noFill/>
          <a:ln w="0">
            <a:noFill/>
          </a:ln>
        </p:spPr>
        <p:txBody>
          <a:bodyPr lIns="0" tIns="0" rIns="0" bIns="0" anchor="t">
            <a:noAutofit/>
          </a:bodyPr>
          <a:lstStyle>
            <a:defPPr>
              <a:defRPr sz="1875" b="1">
                <a:solidFill>
                  <a:srgbClr val="F4F8FF"/>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F4F8FF"/>
                </a:solidFill>
                <a:latin typeface="DejaVu Sans"/>
                <a:ea typeface="DejaVu Sans"/>
                <a:cs typeface="DejaVu Sans"/>
              </a:defRPr>
            </a:pPr>
            <a:r>
              <a:rPr kumimoji="0" sz="1875" b="1" i="0" u="none" strike="noStrike" kern="1200" cap="none" spc="0" normalizeH="0" baseline="0" noProof="0">
                <a:ln>
                  <a:noFill/>
                </a:ln>
                <a:solidFill>
                  <a:srgbClr val="F4F8FF"/>
                </a:solidFill>
                <a:effectLst/>
                <a:uLnTx/>
                <a:uFillTx/>
                <a:latin typeface="DejaVu Sans"/>
                <a:ea typeface="DejaVu Sans"/>
                <a:cs typeface="DejaVu Sans"/>
              </a:rPr>
              <a:t>CONTRIBUTION REALISED</a:t>
            </a:r>
          </a:p>
        </p:txBody>
      </p:sp>
      <p:sp>
        <p:nvSpPr>
          <p:cNvPr id="28" name="Rectangle 27">
            <a:extLst>
              <a:ext uri="{FF2B5EF4-FFF2-40B4-BE49-F238E27FC236}">
                <a16:creationId xmlns:a16="http://schemas.microsoft.com/office/drawing/2014/main" id="{23500D20-9ABD-45D2-BD03-A4480E8BBEF9}"/>
              </a:ext>
            </a:extLst>
          </p:cNvPr>
          <p:cNvSpPr>
            <a:spLocks noGrp="1"/>
          </p:cNvSpPr>
          <p:nvPr/>
        </p:nvSpPr>
        <p:spPr>
          <a:xfrm>
            <a:off x="533400" y="5753100"/>
            <a:ext cx="5334000" cy="552450"/>
          </a:xfrm>
          <a:prstGeom prst="rect">
            <a:avLst/>
          </a:prstGeom>
          <a:noFill/>
          <a:ln w="0">
            <a:noFill/>
          </a:ln>
        </p:spPr>
        <p:txBody>
          <a:bodyPr lIns="0" tIns="0" rIns="0" bIns="0" anchor="t">
            <a:noAutofit/>
          </a:bodyPr>
          <a:lstStyle>
            <a:defPPr>
              <a:defRPr sz="1725" b="0">
                <a:solidFill>
                  <a:srgbClr val="B7C5D8"/>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B7C5D8"/>
                </a:solidFill>
                <a:latin typeface="DejaVu Sans"/>
                <a:ea typeface="DejaVu Sans"/>
                <a:cs typeface="DejaVu Sans"/>
              </a:defRPr>
            </a:pPr>
            <a:r>
              <a:rPr kumimoji="0" sz="1725" b="0" i="0" u="none" strike="noStrike" kern="1200" cap="none" spc="0" normalizeH="0" baseline="0" noProof="0">
                <a:ln>
                  <a:noFill/>
                </a:ln>
                <a:solidFill>
                  <a:srgbClr val="B7C5D8"/>
                </a:solidFill>
                <a:effectLst/>
                <a:uLnTx/>
                <a:uFillTx/>
                <a:latin typeface="DejaVu Sans"/>
                <a:ea typeface="DejaVu Sans"/>
                <a:cs typeface="DejaVu Sans"/>
              </a:rPr>
              <a:t>Cost avoidance, cost saving, productivity</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B7C5D8"/>
                </a:solidFill>
                <a:latin typeface="DejaVu Sans"/>
                <a:ea typeface="DejaVu Sans"/>
                <a:cs typeface="DejaVu Sans"/>
              </a:defRPr>
            </a:pPr>
            <a:r>
              <a:rPr kumimoji="0" sz="1725" b="0" i="0" u="none" strike="noStrike" kern="1200" cap="none" spc="0" normalizeH="0" baseline="0" noProof="0">
                <a:ln>
                  <a:noFill/>
                </a:ln>
                <a:solidFill>
                  <a:srgbClr val="B7C5D8"/>
                </a:solidFill>
                <a:effectLst/>
                <a:uLnTx/>
                <a:uFillTx/>
                <a:latin typeface="DejaVu Sans"/>
                <a:ea typeface="DejaVu Sans"/>
                <a:cs typeface="DejaVu Sans"/>
              </a:rPr>
              <a:t>and internalisation gains</a:t>
            </a:r>
          </a:p>
        </p:txBody>
      </p:sp>
      <p:sp>
        <p:nvSpPr>
          <p:cNvPr id="29" name="Rectangle 28">
            <a:extLst>
              <a:ext uri="{FF2B5EF4-FFF2-40B4-BE49-F238E27FC236}">
                <a16:creationId xmlns:a16="http://schemas.microsoft.com/office/drawing/2014/main" id="{B56A48AF-A6C9-4952-B65C-FE85B93C0ACA}"/>
              </a:ext>
            </a:extLst>
          </p:cNvPr>
          <p:cNvSpPr>
            <a:spLocks noGrp="1"/>
          </p:cNvSpPr>
          <p:nvPr/>
        </p:nvSpPr>
        <p:spPr>
          <a:xfrm>
            <a:off x="533400" y="6515100"/>
            <a:ext cx="6667500" cy="219075"/>
          </a:xfrm>
          <a:prstGeom prst="rect">
            <a:avLst/>
          </a:prstGeom>
          <a:noFill/>
          <a:ln w="0">
            <a:noFill/>
          </a:ln>
        </p:spPr>
        <p:txBody>
          <a:bodyPr lIns="0" tIns="0" rIns="0" bIns="0" anchor="t">
            <a:noAutofit/>
          </a:bodyPr>
          <a:lstStyle>
            <a:defPPr>
              <a:defRPr sz="1125" b="0">
                <a:solidFill>
                  <a:srgbClr val="B7C5D8"/>
                </a:solidFill>
                <a:latin typeface="DejaVu Sans"/>
                <a:ea typeface="DejaVu Sans"/>
                <a:cs typeface="DejaVu Sans"/>
              </a:defRPr>
            </a:defPPr>
          </a:lstStyle>
          <a:p>
            <a:pPr marL="0" marR="0" lvl="0" indent="0" algn="l" defTabSz="914400" rtl="0" eaLnBrk="1" fontAlgn="auto" latinLnBrk="0" hangingPunct="1">
              <a:lnSpc>
                <a:spcPct val="100000"/>
              </a:lnSpc>
              <a:spcBef>
                <a:spcPts val="0"/>
              </a:spcBef>
              <a:spcAft>
                <a:spcPts val="0"/>
              </a:spcAft>
              <a:buClrTx/>
              <a:buSzTx/>
              <a:buFontTx/>
              <a:buNone/>
              <a:tabLst/>
              <a:defRPr sz="1125" b="0">
                <a:solidFill>
                  <a:srgbClr val="B7C5D8"/>
                </a:solidFill>
                <a:latin typeface="DejaVu Sans"/>
                <a:ea typeface="DejaVu Sans"/>
                <a:cs typeface="DejaVu Sans"/>
              </a:defRPr>
            </a:pPr>
            <a:r>
              <a:rPr kumimoji="0" sz="1125" b="0" i="0" u="none" strike="noStrike" kern="1200" cap="none" spc="0" normalizeH="0" baseline="0" noProof="0">
                <a:ln>
                  <a:noFill/>
                </a:ln>
                <a:solidFill>
                  <a:srgbClr val="B7C5D8"/>
                </a:solidFill>
                <a:effectLst/>
                <a:uLnTx/>
                <a:uFillTx/>
                <a:latin typeface="DejaVu Sans"/>
                <a:ea typeface="DejaVu Sans"/>
                <a:cs typeface="DejaVu Sans"/>
              </a:rPr>
              <a:t>Powered by IT as a Service (ITaaS), GITD</a:t>
            </a:r>
          </a:p>
        </p:txBody>
      </p:sp>
    </p:spTree>
    <p:extLst>
      <p:ext uri="{BB962C8B-B14F-4D97-AF65-F5344CB8AC3E}">
        <p14:creationId xmlns:p14="http://schemas.microsoft.com/office/powerpoint/2010/main" val="216606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3C6BD-A9F7-EBF5-CBAA-76CEAB6594E9}"/>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A7A32143-405E-EDE2-1247-0FF3DA4876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71757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50D8B-4D2D-1B0D-F692-BBDC163FB1D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B13EF7-325A-9F3E-367A-83528E97A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63570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101D"/>
        </a:solidFill>
        <a:effectLst/>
      </p:bgPr>
    </p:bg>
    <p:spTree>
      <p:nvGrpSpPr>
        <p:cNvPr id="1" name=""/>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B7B8CB04-487D-46FB-BB77-DD53D3A15155}"/>
              </a:ext>
            </a:extLst>
          </p:cNvPr>
          <p:cNvCxnSpPr>
            <a:stCxn id="13" idx="3"/>
            <a:endCxn id="17" idx="1"/>
          </p:cNvCxnSpPr>
          <p:nvPr/>
        </p:nvCxnSpPr>
        <p:spPr>
          <a:xfrm>
            <a:off x="8801100" y="3648075"/>
            <a:ext cx="361950" cy="0"/>
          </a:xfrm>
          <a:prstGeom prst="straightConnector1">
            <a:avLst/>
          </a:prstGeom>
          <a:ln w="19050">
            <a:solidFill>
              <a:srgbClr val="BE80FF"/>
            </a:solidFill>
            <a:tailEnd type="triangle" w="sm" len="sm"/>
          </a:ln>
        </p:spPr>
      </p:cxnSp>
      <p:cxnSp>
        <p:nvCxnSpPr>
          <p:cNvPr id="22" name="Straight Arrow Connector 21">
            <a:extLst>
              <a:ext uri="{FF2B5EF4-FFF2-40B4-BE49-F238E27FC236}">
                <a16:creationId xmlns:a16="http://schemas.microsoft.com/office/drawing/2014/main" id="{45802F2E-1334-4B18-BE4F-DA17856D99C6}"/>
              </a:ext>
            </a:extLst>
          </p:cNvPr>
          <p:cNvCxnSpPr>
            <a:stCxn id="9" idx="3"/>
            <a:endCxn id="13" idx="1"/>
          </p:cNvCxnSpPr>
          <p:nvPr/>
        </p:nvCxnSpPr>
        <p:spPr>
          <a:xfrm>
            <a:off x="5924550" y="3648075"/>
            <a:ext cx="361950" cy="0"/>
          </a:xfrm>
          <a:prstGeom prst="straightConnector1">
            <a:avLst/>
          </a:prstGeom>
          <a:ln w="19050">
            <a:solidFill>
              <a:srgbClr val="83BBFF"/>
            </a:solidFill>
            <a:tailEnd type="triangle" w="sm" len="sm"/>
          </a:ln>
        </p:spPr>
      </p:cxnSp>
      <p:cxnSp>
        <p:nvCxnSpPr>
          <p:cNvPr id="21" name="Straight Arrow Connector 20">
            <a:extLst>
              <a:ext uri="{FF2B5EF4-FFF2-40B4-BE49-F238E27FC236}">
                <a16:creationId xmlns:a16="http://schemas.microsoft.com/office/drawing/2014/main" id="{36CDEC6C-15F2-4973-826C-A88EF4BF6558}"/>
              </a:ext>
            </a:extLst>
          </p:cNvPr>
          <p:cNvCxnSpPr>
            <a:stCxn id="5" idx="3"/>
            <a:endCxn id="9" idx="1"/>
          </p:cNvCxnSpPr>
          <p:nvPr/>
        </p:nvCxnSpPr>
        <p:spPr>
          <a:xfrm>
            <a:off x="3048000" y="3648075"/>
            <a:ext cx="361950" cy="0"/>
          </a:xfrm>
          <a:prstGeom prst="straightConnector1">
            <a:avLst/>
          </a:prstGeom>
          <a:ln w="19050">
            <a:solidFill>
              <a:srgbClr val="16CFEA"/>
            </a:solidFill>
            <a:tailEnd type="triangle" w="sm" len="sm"/>
          </a:ln>
        </p:spPr>
      </p:cxnSp>
      <p:sp>
        <p:nvSpPr>
          <p:cNvPr id="28" name="Rectangle 27">
            <a:extLst>
              <a:ext uri="{FF2B5EF4-FFF2-40B4-BE49-F238E27FC236}">
                <a16:creationId xmlns:a16="http://schemas.microsoft.com/office/drawing/2014/main" id="{53BB76C1-CC2C-4D5A-82B2-763275BE44E4}"/>
              </a:ext>
            </a:extLst>
          </p:cNvPr>
          <p:cNvSpPr>
            <a:spLocks noGrp="1"/>
          </p:cNvSpPr>
          <p:nvPr/>
        </p:nvSpPr>
        <p:spPr>
          <a:xfrm>
            <a:off x="533400" y="485775"/>
            <a:ext cx="9239250" cy="685800"/>
          </a:xfrm>
          <a:prstGeom prst="rect">
            <a:avLst/>
          </a:prstGeom>
          <a:noFill/>
          <a:ln w="0">
            <a:noFill/>
          </a:ln>
        </p:spPr>
        <p:txBody>
          <a:bodyPr lIns="0" tIns="0" rIns="0" bIns="0" anchor="t">
            <a:noAutofit/>
          </a:bodyPr>
          <a:lstStyle>
            <a:defPPr>
              <a:defRPr sz="3300" b="1">
                <a:solidFill>
                  <a:srgbClr val="F4F8FF"/>
                </a:solidFill>
                <a:latin typeface="DejaVu Sans"/>
                <a:ea typeface="DejaVu Sans"/>
                <a:cs typeface="DejaVu Sans"/>
              </a:defRPr>
            </a:defPPr>
          </a:lstStyle>
          <a:p>
            <a:pPr>
              <a:defRPr sz="3300" b="1">
                <a:solidFill>
                  <a:srgbClr val="F4F8FF"/>
                </a:solidFill>
                <a:latin typeface="DejaVu Sans"/>
                <a:ea typeface="DejaVu Sans"/>
                <a:cs typeface="DejaVu Sans"/>
              </a:defRPr>
            </a:pPr>
            <a:r>
              <a:rPr sz="3300" b="1">
                <a:solidFill>
                  <a:srgbClr val="F4F8FF"/>
                </a:solidFill>
                <a:latin typeface="DejaVu Sans"/>
                <a:ea typeface="DejaVu Sans"/>
                <a:cs typeface="DejaVu Sans"/>
              </a:rPr>
              <a:t>AiNspire HR Journey</a:t>
            </a:r>
          </a:p>
        </p:txBody>
      </p:sp>
      <p:sp>
        <p:nvSpPr>
          <p:cNvPr id="2" name="Rectangle 1">
            <a:extLst>
              <a:ext uri="{FF2B5EF4-FFF2-40B4-BE49-F238E27FC236}">
                <a16:creationId xmlns:a16="http://schemas.microsoft.com/office/drawing/2014/main" id="{B18D3649-0DFC-477B-98DC-CC959367EFB2}"/>
              </a:ext>
            </a:extLst>
          </p:cNvPr>
          <p:cNvSpPr>
            <a:spLocks noGrp="1"/>
          </p:cNvSpPr>
          <p:nvPr/>
        </p:nvSpPr>
        <p:spPr>
          <a:xfrm>
            <a:off x="533400" y="1266825"/>
            <a:ext cx="10572750" cy="381000"/>
          </a:xfrm>
          <a:prstGeom prst="rect">
            <a:avLst/>
          </a:prstGeom>
          <a:noFill/>
          <a:ln w="0">
            <a:noFill/>
          </a:ln>
        </p:spPr>
        <p:txBody>
          <a:bodyPr lIns="0" tIns="0" rIns="0" bIns="0" anchor="t">
            <a:noAutofit/>
          </a:bodyPr>
          <a:lstStyle>
            <a:defPPr>
              <a:defRPr sz="2025" b="0">
                <a:solidFill>
                  <a:srgbClr val="B7C5D8"/>
                </a:solidFill>
                <a:latin typeface="DejaVu Sans"/>
                <a:ea typeface="DejaVu Sans"/>
                <a:cs typeface="DejaVu Sans"/>
              </a:defRPr>
            </a:defPPr>
          </a:lstStyle>
          <a:p>
            <a:pPr>
              <a:defRPr sz="2025" b="0">
                <a:solidFill>
                  <a:srgbClr val="B7C5D8"/>
                </a:solidFill>
                <a:latin typeface="DejaVu Sans"/>
                <a:ea typeface="DejaVu Sans"/>
                <a:cs typeface="DejaVu Sans"/>
              </a:defRPr>
            </a:pPr>
            <a:r>
              <a:rPr sz="2025" b="0">
                <a:solidFill>
                  <a:srgbClr val="B7C5D8"/>
                </a:solidFill>
                <a:latin typeface="DejaVu Sans"/>
                <a:ea typeface="DejaVu Sans"/>
                <a:cs typeface="DejaVu Sans"/>
              </a:rPr>
              <a:t>Observe, analyse and act on workforce evidence.</a:t>
            </a:r>
          </a:p>
        </p:txBody>
      </p:sp>
      <p:pic>
        <p:nvPicPr>
          <p:cNvPr id="3" name="Picture 2">
            <a:extLst>
              <a:ext uri="{FF2B5EF4-FFF2-40B4-BE49-F238E27FC236}">
                <a16:creationId xmlns:a16="http://schemas.microsoft.com/office/drawing/2014/main" id="{6CED6ED4-3D1A-42E5-A6C8-6A1CAC95B0F4}"/>
              </a:ext>
            </a:extLst>
          </p:cNvPr>
          <p:cNvPicPr>
            <a:picLocks noChangeAspect="1"/>
          </p:cNvPicPr>
          <p:nvPr/>
        </p:nvPicPr>
        <p:blipFill>
          <a:blip r:embed="rId3"/>
          <a:stretch/>
        </p:blipFill>
        <p:spPr>
          <a:xfrm>
            <a:off x="9906000" y="384175"/>
            <a:ext cx="1695450" cy="565150"/>
          </a:xfrm>
          <a:prstGeom prst="rect">
            <a:avLst/>
          </a:prstGeom>
        </p:spPr>
      </p:pic>
      <p:sp>
        <p:nvSpPr>
          <p:cNvPr id="4" name="Rectangle 3">
            <a:extLst>
              <a:ext uri="{FF2B5EF4-FFF2-40B4-BE49-F238E27FC236}">
                <a16:creationId xmlns:a16="http://schemas.microsoft.com/office/drawing/2014/main" id="{F51D926A-6F33-440E-9B16-5A53855D4A4B}"/>
              </a:ext>
            </a:extLst>
          </p:cNvPr>
          <p:cNvSpPr>
            <a:spLocks noGrp="1"/>
          </p:cNvSpPr>
          <p:nvPr/>
        </p:nvSpPr>
        <p:spPr>
          <a:xfrm>
            <a:off x="533400" y="1838325"/>
            <a:ext cx="6667500" cy="276225"/>
          </a:xfrm>
          <a:prstGeom prst="rect">
            <a:avLst/>
          </a:prstGeom>
          <a:noFill/>
          <a:ln w="0">
            <a:noFill/>
          </a:ln>
        </p:spPr>
        <p:txBody>
          <a:bodyPr lIns="0" tIns="0" rIns="0" bIns="0" anchor="t">
            <a:noAutofit/>
          </a:bodyPr>
          <a:lstStyle>
            <a:defPPr>
              <a:defRPr sz="1425" b="1">
                <a:solidFill>
                  <a:srgbClr val="16CFEA"/>
                </a:solidFill>
                <a:latin typeface="DejaVu Sans"/>
                <a:ea typeface="DejaVu Sans"/>
                <a:cs typeface="DejaVu Sans"/>
              </a:defRPr>
            </a:defPPr>
          </a:lstStyle>
          <a:p>
            <a:pPr>
              <a:defRPr sz="1425" b="1">
                <a:solidFill>
                  <a:srgbClr val="16CFEA"/>
                </a:solidFill>
                <a:latin typeface="DejaVu Sans"/>
                <a:ea typeface="DejaVu Sans"/>
                <a:cs typeface="DejaVu Sans"/>
              </a:defRPr>
            </a:pPr>
            <a:r>
              <a:rPr sz="1425" b="1">
                <a:solidFill>
                  <a:srgbClr val="16CFEA"/>
                </a:solidFill>
                <a:latin typeface="DejaVu Sans"/>
                <a:ea typeface="DejaVu Sans"/>
                <a:cs typeface="DejaVu Sans"/>
              </a:rPr>
              <a:t>START: AFTER EMPLOYEE ASSESSMENT</a:t>
            </a:r>
          </a:p>
        </p:txBody>
      </p:sp>
      <p:sp>
        <p:nvSpPr>
          <p:cNvPr id="5" name="Rectangle 4">
            <a:extLst>
              <a:ext uri="{FF2B5EF4-FFF2-40B4-BE49-F238E27FC236}">
                <a16:creationId xmlns:a16="http://schemas.microsoft.com/office/drawing/2014/main" id="{DAF503CA-A569-455B-9F67-7C1BB4DEBBD9}"/>
              </a:ext>
            </a:extLst>
          </p:cNvPr>
          <p:cNvSpPr>
            <a:spLocks noGrp="1"/>
          </p:cNvSpPr>
          <p:nvPr/>
        </p:nvSpPr>
        <p:spPr>
          <a:xfrm>
            <a:off x="533400" y="2286000"/>
            <a:ext cx="2514600" cy="2724150"/>
          </a:xfrm>
          <a:prstGeom prst="rect">
            <a:avLst/>
          </a:prstGeom>
          <a:solidFill>
            <a:srgbClr val="101C2D"/>
          </a:solidFill>
          <a:ln w="13335">
            <a:solidFill>
              <a:srgbClr val="16CFEA"/>
            </a:solidFill>
          </a:ln>
        </p:spPr>
        <p:txBody>
          <a:bodyPr/>
          <a:lstStyle/>
          <a:p>
            <a:endParaRPr lang="en-MY"/>
          </a:p>
        </p:txBody>
      </p:sp>
      <p:sp>
        <p:nvSpPr>
          <p:cNvPr id="6" name="Rectangle 5">
            <a:extLst>
              <a:ext uri="{FF2B5EF4-FFF2-40B4-BE49-F238E27FC236}">
                <a16:creationId xmlns:a16="http://schemas.microsoft.com/office/drawing/2014/main" id="{CF492013-4273-4AF2-A4CD-CD11139C0BCF}"/>
              </a:ext>
            </a:extLst>
          </p:cNvPr>
          <p:cNvSpPr>
            <a:spLocks noGrp="1"/>
          </p:cNvSpPr>
          <p:nvPr/>
        </p:nvSpPr>
        <p:spPr>
          <a:xfrm>
            <a:off x="723900" y="2447925"/>
            <a:ext cx="428625" cy="333375"/>
          </a:xfrm>
          <a:prstGeom prst="rect">
            <a:avLst/>
          </a:prstGeom>
          <a:noFill/>
          <a:ln w="0">
            <a:noFill/>
          </a:ln>
        </p:spPr>
        <p:txBody>
          <a:bodyPr lIns="0" tIns="0" rIns="0" bIns="0" anchor="t">
            <a:noAutofit/>
          </a:bodyPr>
          <a:lstStyle>
            <a:defPPr>
              <a:defRPr sz="1875" b="1">
                <a:solidFill>
                  <a:srgbClr val="16CFEA"/>
                </a:solidFill>
                <a:latin typeface="DejaVu Sans"/>
                <a:ea typeface="DejaVu Sans"/>
                <a:cs typeface="DejaVu Sans"/>
              </a:defRPr>
            </a:defPPr>
          </a:lstStyle>
          <a:p>
            <a:pPr>
              <a:defRPr sz="1875" b="1">
                <a:solidFill>
                  <a:srgbClr val="16CFEA"/>
                </a:solidFill>
                <a:latin typeface="DejaVu Sans"/>
                <a:ea typeface="DejaVu Sans"/>
                <a:cs typeface="DejaVu Sans"/>
              </a:defRPr>
            </a:pPr>
            <a:r>
              <a:rPr sz="1875" b="1">
                <a:solidFill>
                  <a:srgbClr val="16CFEA"/>
                </a:solidFill>
                <a:latin typeface="DejaVu Sans"/>
                <a:ea typeface="DejaVu Sans"/>
                <a:cs typeface="DejaVu Sans"/>
              </a:rPr>
              <a:t>01</a:t>
            </a:r>
          </a:p>
        </p:txBody>
      </p:sp>
      <p:sp>
        <p:nvSpPr>
          <p:cNvPr id="7" name="Rectangle 6">
            <a:extLst>
              <a:ext uri="{FF2B5EF4-FFF2-40B4-BE49-F238E27FC236}">
                <a16:creationId xmlns:a16="http://schemas.microsoft.com/office/drawing/2014/main" id="{5299D86D-673A-45D7-B9F2-942B40C5D613}"/>
              </a:ext>
            </a:extLst>
          </p:cNvPr>
          <p:cNvSpPr>
            <a:spLocks noGrp="1"/>
          </p:cNvSpPr>
          <p:nvPr/>
        </p:nvSpPr>
        <p:spPr>
          <a:xfrm>
            <a:off x="723900" y="2809875"/>
            <a:ext cx="2209800" cy="723900"/>
          </a:xfrm>
          <a:prstGeom prst="rect">
            <a:avLst/>
          </a:prstGeom>
          <a:noFill/>
          <a:ln w="0">
            <a:noFill/>
          </a:ln>
        </p:spPr>
        <p:txBody>
          <a:bodyPr lIns="0" tIns="0" rIns="0" bIns="0" anchor="t">
            <a:noAutofit/>
          </a:bodyPr>
          <a:lstStyle>
            <a:defPPr>
              <a:defRPr sz="2025" b="1">
                <a:solidFill>
                  <a:srgbClr val="16CFEA"/>
                </a:solidFill>
                <a:latin typeface="DejaVu Sans"/>
                <a:ea typeface="DejaVu Sans"/>
                <a:cs typeface="DejaVu Sans"/>
              </a:defRPr>
            </a:defPPr>
          </a:lstStyle>
          <a:p>
            <a:pPr>
              <a:defRPr sz="2025" b="1">
                <a:solidFill>
                  <a:srgbClr val="16CFEA"/>
                </a:solidFill>
                <a:latin typeface="DejaVu Sans"/>
                <a:ea typeface="DejaVu Sans"/>
                <a:cs typeface="DejaVu Sans"/>
              </a:defRPr>
            </a:pPr>
            <a:r>
              <a:rPr sz="2025" b="1">
                <a:solidFill>
                  <a:srgbClr val="16CFEA"/>
                </a:solidFill>
                <a:latin typeface="DejaVu Sans"/>
                <a:ea typeface="DejaVu Sans"/>
                <a:cs typeface="DejaVu Sans"/>
              </a:rPr>
              <a:t>Understand</a:t>
            </a:r>
          </a:p>
          <a:p>
            <a:pPr>
              <a:defRPr sz="2025" b="1">
                <a:solidFill>
                  <a:srgbClr val="16CFEA"/>
                </a:solidFill>
                <a:latin typeface="DejaVu Sans"/>
                <a:ea typeface="DejaVu Sans"/>
                <a:cs typeface="DejaVu Sans"/>
              </a:defRPr>
            </a:pPr>
            <a:r>
              <a:rPr sz="2025" b="1">
                <a:solidFill>
                  <a:srgbClr val="16CFEA"/>
                </a:solidFill>
                <a:latin typeface="DejaVu Sans"/>
                <a:ea typeface="DejaVu Sans"/>
                <a:cs typeface="DejaVu Sans"/>
              </a:rPr>
              <a:t>the Workforce</a:t>
            </a:r>
          </a:p>
        </p:txBody>
      </p:sp>
      <p:sp>
        <p:nvSpPr>
          <p:cNvPr id="8" name="Rectangle 7">
            <a:extLst>
              <a:ext uri="{FF2B5EF4-FFF2-40B4-BE49-F238E27FC236}">
                <a16:creationId xmlns:a16="http://schemas.microsoft.com/office/drawing/2014/main" id="{F3A29870-BDF4-4CC2-BAD9-5CEB3C5CEDF4}"/>
              </a:ext>
            </a:extLst>
          </p:cNvPr>
          <p:cNvSpPr>
            <a:spLocks noGrp="1"/>
          </p:cNvSpPr>
          <p:nvPr/>
        </p:nvSpPr>
        <p:spPr>
          <a:xfrm>
            <a:off x="723900" y="3638550"/>
            <a:ext cx="2171700" cy="1295400"/>
          </a:xfrm>
          <a:prstGeom prst="rect">
            <a:avLst/>
          </a:prstGeom>
          <a:noFill/>
          <a:ln w="0">
            <a:noFill/>
          </a:ln>
        </p:spPr>
        <p:txBody>
          <a:bodyPr lIns="0" tIns="0" rIns="0" bIns="0" anchor="t">
            <a:noAutofit/>
          </a:bodyPr>
          <a:lstStyle>
            <a:defPPr>
              <a:defRPr sz="1650" b="0">
                <a:solidFill>
                  <a:srgbClr val="F4F8FF"/>
                </a:solidFill>
                <a:latin typeface="DejaVu Sans"/>
                <a:ea typeface="DejaVu Sans"/>
                <a:cs typeface="DejaVu Sans"/>
              </a:defRPr>
            </a:defPPr>
          </a:lstStyle>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Track participation</a:t>
            </a: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and AI readiness</a:t>
            </a:r>
          </a:p>
          <a:p>
            <a:endParaRPr sz="1650" b="0">
              <a:solidFill>
                <a:srgbClr val="F4F8FF"/>
              </a:solidFill>
              <a:latin typeface="DejaVu Sans"/>
              <a:ea typeface="DejaVu Sans"/>
              <a:cs typeface="DejaVu Sans"/>
            </a:endParaRP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Review confidence</a:t>
            </a: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and clarification</a:t>
            </a:r>
          </a:p>
        </p:txBody>
      </p:sp>
      <p:sp>
        <p:nvSpPr>
          <p:cNvPr id="9" name="Rectangle 8">
            <a:extLst>
              <a:ext uri="{FF2B5EF4-FFF2-40B4-BE49-F238E27FC236}">
                <a16:creationId xmlns:a16="http://schemas.microsoft.com/office/drawing/2014/main" id="{06C2640B-E0CC-46BC-9F14-22A64F0378BA}"/>
              </a:ext>
            </a:extLst>
          </p:cNvPr>
          <p:cNvSpPr>
            <a:spLocks noGrp="1"/>
          </p:cNvSpPr>
          <p:nvPr/>
        </p:nvSpPr>
        <p:spPr>
          <a:xfrm>
            <a:off x="3409950" y="2286000"/>
            <a:ext cx="2514600" cy="2724150"/>
          </a:xfrm>
          <a:prstGeom prst="rect">
            <a:avLst/>
          </a:prstGeom>
          <a:solidFill>
            <a:srgbClr val="101C2D"/>
          </a:solidFill>
          <a:ln w="13335">
            <a:solidFill>
              <a:srgbClr val="83BBFF"/>
            </a:solidFill>
          </a:ln>
        </p:spPr>
        <p:txBody>
          <a:bodyPr/>
          <a:lstStyle/>
          <a:p>
            <a:endParaRPr lang="en-MY"/>
          </a:p>
        </p:txBody>
      </p:sp>
      <p:sp>
        <p:nvSpPr>
          <p:cNvPr id="10" name="Rectangle 9">
            <a:extLst>
              <a:ext uri="{FF2B5EF4-FFF2-40B4-BE49-F238E27FC236}">
                <a16:creationId xmlns:a16="http://schemas.microsoft.com/office/drawing/2014/main" id="{DC350836-BC43-4C23-9DEF-70FDD4A8BAF9}"/>
              </a:ext>
            </a:extLst>
          </p:cNvPr>
          <p:cNvSpPr>
            <a:spLocks noGrp="1"/>
          </p:cNvSpPr>
          <p:nvPr/>
        </p:nvSpPr>
        <p:spPr>
          <a:xfrm>
            <a:off x="3600450" y="2447925"/>
            <a:ext cx="428625" cy="333375"/>
          </a:xfrm>
          <a:prstGeom prst="rect">
            <a:avLst/>
          </a:prstGeom>
          <a:noFill/>
          <a:ln w="0">
            <a:noFill/>
          </a:ln>
        </p:spPr>
        <p:txBody>
          <a:bodyPr lIns="0" tIns="0" rIns="0" bIns="0" anchor="t">
            <a:noAutofit/>
          </a:bodyPr>
          <a:lstStyle>
            <a:defPPr>
              <a:defRPr sz="1875" b="1">
                <a:solidFill>
                  <a:srgbClr val="83BBFF"/>
                </a:solidFill>
                <a:latin typeface="DejaVu Sans"/>
                <a:ea typeface="DejaVu Sans"/>
                <a:cs typeface="DejaVu Sans"/>
              </a:defRPr>
            </a:defPPr>
          </a:lstStyle>
          <a:p>
            <a:pPr>
              <a:defRPr sz="1875" b="1">
                <a:solidFill>
                  <a:srgbClr val="83BBFF"/>
                </a:solidFill>
                <a:latin typeface="DejaVu Sans"/>
                <a:ea typeface="DejaVu Sans"/>
                <a:cs typeface="DejaVu Sans"/>
              </a:defRPr>
            </a:pPr>
            <a:r>
              <a:rPr sz="1875" b="1">
                <a:solidFill>
                  <a:srgbClr val="83BBFF"/>
                </a:solidFill>
                <a:latin typeface="DejaVu Sans"/>
                <a:ea typeface="DejaVu Sans"/>
                <a:cs typeface="DejaVu Sans"/>
              </a:rPr>
              <a:t>02</a:t>
            </a:r>
          </a:p>
        </p:txBody>
      </p:sp>
      <p:sp>
        <p:nvSpPr>
          <p:cNvPr id="11" name="Rectangle 10">
            <a:extLst>
              <a:ext uri="{FF2B5EF4-FFF2-40B4-BE49-F238E27FC236}">
                <a16:creationId xmlns:a16="http://schemas.microsoft.com/office/drawing/2014/main" id="{6F5D4761-9CDB-4BF3-9C44-90F52F033066}"/>
              </a:ext>
            </a:extLst>
          </p:cNvPr>
          <p:cNvSpPr>
            <a:spLocks noGrp="1"/>
          </p:cNvSpPr>
          <p:nvPr/>
        </p:nvSpPr>
        <p:spPr>
          <a:xfrm>
            <a:off x="3600450" y="2809875"/>
            <a:ext cx="2209800" cy="723900"/>
          </a:xfrm>
          <a:prstGeom prst="rect">
            <a:avLst/>
          </a:prstGeom>
          <a:noFill/>
          <a:ln w="0">
            <a:noFill/>
          </a:ln>
        </p:spPr>
        <p:txBody>
          <a:bodyPr lIns="0" tIns="0" rIns="0" bIns="0" anchor="t">
            <a:noAutofit/>
          </a:bodyPr>
          <a:lstStyle>
            <a:defPPr>
              <a:defRPr sz="2025" b="1">
                <a:solidFill>
                  <a:srgbClr val="83BBFF"/>
                </a:solidFill>
                <a:latin typeface="DejaVu Sans"/>
                <a:ea typeface="DejaVu Sans"/>
                <a:cs typeface="DejaVu Sans"/>
              </a:defRPr>
            </a:defPPr>
          </a:lstStyle>
          <a:p>
            <a:pPr>
              <a:defRPr sz="2025" b="1">
                <a:solidFill>
                  <a:srgbClr val="83BBFF"/>
                </a:solidFill>
                <a:latin typeface="DejaVu Sans"/>
                <a:ea typeface="DejaVu Sans"/>
                <a:cs typeface="DejaVu Sans"/>
              </a:defRPr>
            </a:pPr>
            <a:r>
              <a:rPr sz="2025" b="1">
                <a:solidFill>
                  <a:srgbClr val="83BBFF"/>
                </a:solidFill>
                <a:latin typeface="DejaVu Sans"/>
                <a:ea typeface="DejaVu Sans"/>
                <a:cs typeface="DejaVu Sans"/>
              </a:rPr>
              <a:t>Develop</a:t>
            </a:r>
          </a:p>
          <a:p>
            <a:pPr>
              <a:defRPr sz="2025" b="1">
                <a:solidFill>
                  <a:srgbClr val="83BBFF"/>
                </a:solidFill>
                <a:latin typeface="DejaVu Sans"/>
                <a:ea typeface="DejaVu Sans"/>
                <a:cs typeface="DejaVu Sans"/>
              </a:defRPr>
            </a:pPr>
            <a:r>
              <a:rPr sz="2025" b="1">
                <a:solidFill>
                  <a:srgbClr val="83BBFF"/>
                </a:solidFill>
                <a:latin typeface="DejaVu Sans"/>
                <a:ea typeface="DejaVu Sans"/>
                <a:cs typeface="DejaVu Sans"/>
              </a:rPr>
              <a:t>Capabilities</a:t>
            </a:r>
          </a:p>
        </p:txBody>
      </p:sp>
      <p:sp>
        <p:nvSpPr>
          <p:cNvPr id="12" name="Rectangle 11">
            <a:extLst>
              <a:ext uri="{FF2B5EF4-FFF2-40B4-BE49-F238E27FC236}">
                <a16:creationId xmlns:a16="http://schemas.microsoft.com/office/drawing/2014/main" id="{FDE3A1AC-31B7-4785-8164-3A9A977D82C9}"/>
              </a:ext>
            </a:extLst>
          </p:cNvPr>
          <p:cNvSpPr>
            <a:spLocks noGrp="1"/>
          </p:cNvSpPr>
          <p:nvPr/>
        </p:nvSpPr>
        <p:spPr>
          <a:xfrm>
            <a:off x="3600450" y="3638550"/>
            <a:ext cx="2171700" cy="1295400"/>
          </a:xfrm>
          <a:prstGeom prst="rect">
            <a:avLst/>
          </a:prstGeom>
          <a:noFill/>
          <a:ln w="0">
            <a:noFill/>
          </a:ln>
        </p:spPr>
        <p:txBody>
          <a:bodyPr lIns="0" tIns="0" rIns="0" bIns="0" anchor="t">
            <a:noAutofit/>
          </a:bodyPr>
          <a:lstStyle>
            <a:defPPr>
              <a:defRPr sz="1650" b="0">
                <a:solidFill>
                  <a:srgbClr val="F4F8FF"/>
                </a:solidFill>
                <a:latin typeface="DejaVu Sans"/>
                <a:ea typeface="DejaVu Sans"/>
                <a:cs typeface="DejaVu Sans"/>
              </a:defRPr>
            </a:defPPr>
          </a:lstStyle>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Analyse skill gaps</a:t>
            </a: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and learning impact</a:t>
            </a:r>
          </a:p>
          <a:p>
            <a:endParaRPr sz="1650" b="0">
              <a:solidFill>
                <a:srgbClr val="F4F8FF"/>
              </a:solidFill>
              <a:latin typeface="DejaVu Sans"/>
              <a:ea typeface="DejaVu Sans"/>
              <a:cs typeface="DejaVu Sans"/>
            </a:endParaRP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Draft 90-day</a:t>
            </a: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upskilling plans</a:t>
            </a:r>
          </a:p>
        </p:txBody>
      </p:sp>
      <p:sp>
        <p:nvSpPr>
          <p:cNvPr id="13" name="Rectangle 12">
            <a:extLst>
              <a:ext uri="{FF2B5EF4-FFF2-40B4-BE49-F238E27FC236}">
                <a16:creationId xmlns:a16="http://schemas.microsoft.com/office/drawing/2014/main" id="{67FF917A-3DF0-42DA-A794-98E4B45E2136}"/>
              </a:ext>
            </a:extLst>
          </p:cNvPr>
          <p:cNvSpPr>
            <a:spLocks noGrp="1"/>
          </p:cNvSpPr>
          <p:nvPr/>
        </p:nvSpPr>
        <p:spPr>
          <a:xfrm>
            <a:off x="6286500" y="2286000"/>
            <a:ext cx="2514600" cy="2724150"/>
          </a:xfrm>
          <a:prstGeom prst="rect">
            <a:avLst/>
          </a:prstGeom>
          <a:solidFill>
            <a:srgbClr val="101C2D"/>
          </a:solidFill>
          <a:ln w="13335">
            <a:solidFill>
              <a:srgbClr val="BE80FF"/>
            </a:solidFill>
          </a:ln>
        </p:spPr>
        <p:txBody>
          <a:bodyPr/>
          <a:lstStyle/>
          <a:p>
            <a:endParaRPr lang="en-MY"/>
          </a:p>
        </p:txBody>
      </p:sp>
      <p:sp>
        <p:nvSpPr>
          <p:cNvPr id="14" name="Rectangle 13">
            <a:extLst>
              <a:ext uri="{FF2B5EF4-FFF2-40B4-BE49-F238E27FC236}">
                <a16:creationId xmlns:a16="http://schemas.microsoft.com/office/drawing/2014/main" id="{C3E0ABC6-13F8-4694-9A93-F37A8468A609}"/>
              </a:ext>
            </a:extLst>
          </p:cNvPr>
          <p:cNvSpPr>
            <a:spLocks noGrp="1"/>
          </p:cNvSpPr>
          <p:nvPr/>
        </p:nvSpPr>
        <p:spPr>
          <a:xfrm>
            <a:off x="6477000" y="2447925"/>
            <a:ext cx="428625" cy="333375"/>
          </a:xfrm>
          <a:prstGeom prst="rect">
            <a:avLst/>
          </a:prstGeom>
          <a:noFill/>
          <a:ln w="0">
            <a:noFill/>
          </a:ln>
        </p:spPr>
        <p:txBody>
          <a:bodyPr lIns="0" tIns="0" rIns="0" bIns="0" anchor="t">
            <a:noAutofit/>
          </a:bodyPr>
          <a:lstStyle>
            <a:defPPr>
              <a:defRPr sz="1875" b="1">
                <a:solidFill>
                  <a:srgbClr val="BE80FF"/>
                </a:solidFill>
                <a:latin typeface="DejaVu Sans"/>
                <a:ea typeface="DejaVu Sans"/>
                <a:cs typeface="DejaVu Sans"/>
              </a:defRPr>
            </a:defPPr>
          </a:lstStyle>
          <a:p>
            <a:pPr>
              <a:defRPr sz="1875" b="1">
                <a:solidFill>
                  <a:srgbClr val="BE80FF"/>
                </a:solidFill>
                <a:latin typeface="DejaVu Sans"/>
                <a:ea typeface="DejaVu Sans"/>
                <a:cs typeface="DejaVu Sans"/>
              </a:defRPr>
            </a:pPr>
            <a:r>
              <a:rPr sz="1875" b="1">
                <a:solidFill>
                  <a:srgbClr val="BE80FF"/>
                </a:solidFill>
                <a:latin typeface="DejaVu Sans"/>
                <a:ea typeface="DejaVu Sans"/>
                <a:cs typeface="DejaVu Sans"/>
              </a:rPr>
              <a:t>03</a:t>
            </a:r>
          </a:p>
        </p:txBody>
      </p:sp>
      <p:sp>
        <p:nvSpPr>
          <p:cNvPr id="15" name="Rectangle 14">
            <a:extLst>
              <a:ext uri="{FF2B5EF4-FFF2-40B4-BE49-F238E27FC236}">
                <a16:creationId xmlns:a16="http://schemas.microsoft.com/office/drawing/2014/main" id="{B7681039-E5E9-4597-B1D8-65D6ED5B9E92}"/>
              </a:ext>
            </a:extLst>
          </p:cNvPr>
          <p:cNvSpPr>
            <a:spLocks noGrp="1"/>
          </p:cNvSpPr>
          <p:nvPr/>
        </p:nvSpPr>
        <p:spPr>
          <a:xfrm>
            <a:off x="6477000" y="2809875"/>
            <a:ext cx="2209800" cy="723900"/>
          </a:xfrm>
          <a:prstGeom prst="rect">
            <a:avLst/>
          </a:prstGeom>
          <a:noFill/>
          <a:ln w="0">
            <a:noFill/>
          </a:ln>
        </p:spPr>
        <p:txBody>
          <a:bodyPr lIns="0" tIns="0" rIns="0" bIns="0" anchor="t">
            <a:noAutofit/>
          </a:bodyPr>
          <a:lstStyle>
            <a:defPPr>
              <a:defRPr sz="2025" b="1">
                <a:solidFill>
                  <a:srgbClr val="BE80FF"/>
                </a:solidFill>
                <a:latin typeface="DejaVu Sans"/>
                <a:ea typeface="DejaVu Sans"/>
                <a:cs typeface="DejaVu Sans"/>
              </a:defRPr>
            </a:defPPr>
          </a:lstStyle>
          <a:p>
            <a:pPr>
              <a:defRPr sz="2025" b="1">
                <a:solidFill>
                  <a:srgbClr val="BE80FF"/>
                </a:solidFill>
                <a:latin typeface="DejaVu Sans"/>
                <a:ea typeface="DejaVu Sans"/>
                <a:cs typeface="DejaVu Sans"/>
              </a:defRPr>
            </a:pPr>
            <a:r>
              <a:rPr sz="2025" b="1">
                <a:solidFill>
                  <a:srgbClr val="BE80FF"/>
                </a:solidFill>
                <a:latin typeface="DejaVu Sans"/>
                <a:ea typeface="DejaVu Sans"/>
                <a:cs typeface="DejaVu Sans"/>
              </a:rPr>
              <a:t>Develop</a:t>
            </a:r>
          </a:p>
          <a:p>
            <a:pPr>
              <a:defRPr sz="2025" b="1">
                <a:solidFill>
                  <a:srgbClr val="BE80FF"/>
                </a:solidFill>
                <a:latin typeface="DejaVu Sans"/>
                <a:ea typeface="DejaVu Sans"/>
                <a:cs typeface="DejaVu Sans"/>
              </a:defRPr>
            </a:pPr>
            <a:r>
              <a:rPr sz="2025" b="1">
                <a:solidFill>
                  <a:srgbClr val="BE80FF"/>
                </a:solidFill>
                <a:latin typeface="DejaVu Sans"/>
                <a:ea typeface="DejaVu Sans"/>
                <a:cs typeface="DejaVu Sans"/>
              </a:rPr>
              <a:t>Talents</a:t>
            </a:r>
          </a:p>
        </p:txBody>
      </p:sp>
      <p:sp>
        <p:nvSpPr>
          <p:cNvPr id="16" name="Rectangle 15">
            <a:extLst>
              <a:ext uri="{FF2B5EF4-FFF2-40B4-BE49-F238E27FC236}">
                <a16:creationId xmlns:a16="http://schemas.microsoft.com/office/drawing/2014/main" id="{C0549935-9703-42D0-B33C-625403B68459}"/>
              </a:ext>
            </a:extLst>
          </p:cNvPr>
          <p:cNvSpPr>
            <a:spLocks noGrp="1"/>
          </p:cNvSpPr>
          <p:nvPr/>
        </p:nvSpPr>
        <p:spPr>
          <a:xfrm>
            <a:off x="6477000" y="3638550"/>
            <a:ext cx="2171700" cy="1295400"/>
          </a:xfrm>
          <a:prstGeom prst="rect">
            <a:avLst/>
          </a:prstGeom>
          <a:noFill/>
          <a:ln w="0">
            <a:noFill/>
          </a:ln>
        </p:spPr>
        <p:txBody>
          <a:bodyPr lIns="0" tIns="0" rIns="0" bIns="0" anchor="t">
            <a:noAutofit/>
          </a:bodyPr>
          <a:lstStyle>
            <a:defPPr>
              <a:defRPr sz="1650" b="0">
                <a:solidFill>
                  <a:srgbClr val="F4F8FF"/>
                </a:solidFill>
                <a:latin typeface="DejaVu Sans"/>
                <a:ea typeface="DejaVu Sans"/>
                <a:cs typeface="DejaVu Sans"/>
              </a:defRPr>
            </a:defPPr>
          </a:lstStyle>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Track interest</a:t>
            </a: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and approvals</a:t>
            </a:r>
          </a:p>
          <a:p>
            <a:endParaRPr sz="1650" b="0">
              <a:solidFill>
                <a:srgbClr val="F4F8FF"/>
              </a:solidFill>
              <a:latin typeface="DejaVu Sans"/>
              <a:ea typeface="DejaVu Sans"/>
              <a:cs typeface="DejaVu Sans"/>
            </a:endParaRP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Review capacity</a:t>
            </a: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and assignments</a:t>
            </a:r>
          </a:p>
        </p:txBody>
      </p:sp>
      <p:sp>
        <p:nvSpPr>
          <p:cNvPr id="17" name="Rectangle 16">
            <a:extLst>
              <a:ext uri="{FF2B5EF4-FFF2-40B4-BE49-F238E27FC236}">
                <a16:creationId xmlns:a16="http://schemas.microsoft.com/office/drawing/2014/main" id="{1C8EB482-B0F6-486D-9346-DDC84C1ABDD8}"/>
              </a:ext>
            </a:extLst>
          </p:cNvPr>
          <p:cNvSpPr>
            <a:spLocks noGrp="1"/>
          </p:cNvSpPr>
          <p:nvPr/>
        </p:nvSpPr>
        <p:spPr>
          <a:xfrm>
            <a:off x="9163050" y="2286000"/>
            <a:ext cx="2514600" cy="2724150"/>
          </a:xfrm>
          <a:prstGeom prst="rect">
            <a:avLst/>
          </a:prstGeom>
          <a:solidFill>
            <a:srgbClr val="101C2D"/>
          </a:solidFill>
          <a:ln w="13335">
            <a:solidFill>
              <a:srgbClr val="65D8B2"/>
            </a:solidFill>
          </a:ln>
        </p:spPr>
        <p:txBody>
          <a:bodyPr/>
          <a:lstStyle/>
          <a:p>
            <a:endParaRPr lang="en-MY"/>
          </a:p>
        </p:txBody>
      </p:sp>
      <p:sp>
        <p:nvSpPr>
          <p:cNvPr id="18" name="Rectangle 17">
            <a:extLst>
              <a:ext uri="{FF2B5EF4-FFF2-40B4-BE49-F238E27FC236}">
                <a16:creationId xmlns:a16="http://schemas.microsoft.com/office/drawing/2014/main" id="{94760880-5494-4DCE-9B46-FC504C640DB6}"/>
              </a:ext>
            </a:extLst>
          </p:cNvPr>
          <p:cNvSpPr>
            <a:spLocks noGrp="1"/>
          </p:cNvSpPr>
          <p:nvPr/>
        </p:nvSpPr>
        <p:spPr>
          <a:xfrm>
            <a:off x="9353550" y="2447925"/>
            <a:ext cx="428625" cy="333375"/>
          </a:xfrm>
          <a:prstGeom prst="rect">
            <a:avLst/>
          </a:prstGeom>
          <a:noFill/>
          <a:ln w="0">
            <a:noFill/>
          </a:ln>
        </p:spPr>
        <p:txBody>
          <a:bodyPr lIns="0" tIns="0" rIns="0" bIns="0" anchor="t">
            <a:noAutofit/>
          </a:bodyPr>
          <a:lstStyle>
            <a:defPPr>
              <a:defRPr sz="1875" b="1">
                <a:solidFill>
                  <a:srgbClr val="65D8B2"/>
                </a:solidFill>
                <a:latin typeface="DejaVu Sans"/>
                <a:ea typeface="DejaVu Sans"/>
                <a:cs typeface="DejaVu Sans"/>
              </a:defRPr>
            </a:defPPr>
          </a:lstStyle>
          <a:p>
            <a:pPr>
              <a:defRPr sz="1875" b="1">
                <a:solidFill>
                  <a:srgbClr val="65D8B2"/>
                </a:solidFill>
                <a:latin typeface="DejaVu Sans"/>
                <a:ea typeface="DejaVu Sans"/>
                <a:cs typeface="DejaVu Sans"/>
              </a:defRPr>
            </a:pPr>
            <a:r>
              <a:rPr sz="1875" b="1">
                <a:solidFill>
                  <a:srgbClr val="65D8B2"/>
                </a:solidFill>
                <a:latin typeface="DejaVu Sans"/>
                <a:ea typeface="DejaVu Sans"/>
                <a:cs typeface="DejaVu Sans"/>
              </a:rPr>
              <a:t>04</a:t>
            </a:r>
          </a:p>
        </p:txBody>
      </p:sp>
      <p:sp>
        <p:nvSpPr>
          <p:cNvPr id="19" name="Rectangle 18">
            <a:extLst>
              <a:ext uri="{FF2B5EF4-FFF2-40B4-BE49-F238E27FC236}">
                <a16:creationId xmlns:a16="http://schemas.microsoft.com/office/drawing/2014/main" id="{0EB53A7F-C4F2-4E71-A8E7-906A4DF444E3}"/>
              </a:ext>
            </a:extLst>
          </p:cNvPr>
          <p:cNvSpPr>
            <a:spLocks noGrp="1"/>
          </p:cNvSpPr>
          <p:nvPr/>
        </p:nvSpPr>
        <p:spPr>
          <a:xfrm>
            <a:off x="9353550" y="2809875"/>
            <a:ext cx="2209800" cy="723900"/>
          </a:xfrm>
          <a:prstGeom prst="rect">
            <a:avLst/>
          </a:prstGeom>
          <a:noFill/>
          <a:ln w="0">
            <a:noFill/>
          </a:ln>
        </p:spPr>
        <p:txBody>
          <a:bodyPr lIns="0" tIns="0" rIns="0" bIns="0" anchor="t">
            <a:noAutofit/>
          </a:bodyPr>
          <a:lstStyle>
            <a:defPPr>
              <a:defRPr sz="2025" b="1">
                <a:solidFill>
                  <a:srgbClr val="65D8B2"/>
                </a:solidFill>
                <a:latin typeface="DejaVu Sans"/>
                <a:ea typeface="DejaVu Sans"/>
                <a:cs typeface="DejaVu Sans"/>
              </a:defRPr>
            </a:defPPr>
          </a:lstStyle>
          <a:p>
            <a:pPr>
              <a:defRPr sz="2025" b="1">
                <a:solidFill>
                  <a:srgbClr val="65D8B2"/>
                </a:solidFill>
                <a:latin typeface="DejaVu Sans"/>
                <a:ea typeface="DejaVu Sans"/>
                <a:cs typeface="DejaVu Sans"/>
              </a:defRPr>
            </a:pPr>
            <a:r>
              <a:rPr sz="2025" b="1">
                <a:solidFill>
                  <a:srgbClr val="65D8B2"/>
                </a:solidFill>
                <a:latin typeface="DejaVu Sans"/>
                <a:ea typeface="DejaVu Sans"/>
                <a:cs typeface="DejaVu Sans"/>
              </a:rPr>
              <a:t>Review</a:t>
            </a:r>
          </a:p>
          <a:p>
            <a:pPr>
              <a:defRPr sz="2025" b="1">
                <a:solidFill>
                  <a:srgbClr val="65D8B2"/>
                </a:solidFill>
                <a:latin typeface="DejaVu Sans"/>
                <a:ea typeface="DejaVu Sans"/>
                <a:cs typeface="DejaVu Sans"/>
              </a:defRPr>
            </a:pPr>
            <a:r>
              <a:rPr sz="2025" b="1">
                <a:solidFill>
                  <a:srgbClr val="65D8B2"/>
                </a:solidFill>
                <a:latin typeface="DejaVu Sans"/>
                <a:ea typeface="DejaVu Sans"/>
                <a:cs typeface="DejaVu Sans"/>
              </a:rPr>
              <a:t>Outcome</a:t>
            </a:r>
          </a:p>
        </p:txBody>
      </p:sp>
      <p:sp>
        <p:nvSpPr>
          <p:cNvPr id="20" name="Rectangle 19">
            <a:extLst>
              <a:ext uri="{FF2B5EF4-FFF2-40B4-BE49-F238E27FC236}">
                <a16:creationId xmlns:a16="http://schemas.microsoft.com/office/drawing/2014/main" id="{D59F9545-D26A-4BDD-A289-E38A915184E1}"/>
              </a:ext>
            </a:extLst>
          </p:cNvPr>
          <p:cNvSpPr>
            <a:spLocks noGrp="1"/>
          </p:cNvSpPr>
          <p:nvPr/>
        </p:nvSpPr>
        <p:spPr>
          <a:xfrm>
            <a:off x="9353550" y="3638550"/>
            <a:ext cx="2171700" cy="1295400"/>
          </a:xfrm>
          <a:prstGeom prst="rect">
            <a:avLst/>
          </a:prstGeom>
          <a:noFill/>
          <a:ln w="0">
            <a:noFill/>
          </a:ln>
        </p:spPr>
        <p:txBody>
          <a:bodyPr lIns="0" tIns="0" rIns="0" bIns="0" anchor="t">
            <a:noAutofit/>
          </a:bodyPr>
          <a:lstStyle>
            <a:defPPr>
              <a:defRPr sz="1650" b="0">
                <a:solidFill>
                  <a:srgbClr val="F4F8FF"/>
                </a:solidFill>
                <a:latin typeface="DejaVu Sans"/>
                <a:ea typeface="DejaVu Sans"/>
                <a:cs typeface="DejaVu Sans"/>
              </a:defRPr>
            </a:defPPr>
          </a:lstStyle>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Check contributions</a:t>
            </a: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and benefits</a:t>
            </a:r>
          </a:p>
          <a:p>
            <a:endParaRPr sz="1650" b="0">
              <a:solidFill>
                <a:srgbClr val="F4F8FF"/>
              </a:solidFill>
              <a:latin typeface="DejaVu Sans"/>
              <a:ea typeface="DejaVu Sans"/>
              <a:cs typeface="DejaVu Sans"/>
            </a:endParaRP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Prioritise next</a:t>
            </a:r>
          </a:p>
          <a:p>
            <a:pPr>
              <a:defRPr sz="1650" b="0">
                <a:solidFill>
                  <a:srgbClr val="F4F8FF"/>
                </a:solidFill>
                <a:latin typeface="DejaVu Sans"/>
                <a:ea typeface="DejaVu Sans"/>
                <a:cs typeface="DejaVu Sans"/>
              </a:defRPr>
            </a:pPr>
            <a:r>
              <a:rPr sz="1650" b="0">
                <a:solidFill>
                  <a:srgbClr val="F4F8FF"/>
                </a:solidFill>
                <a:latin typeface="DejaVu Sans"/>
                <a:ea typeface="DejaVu Sans"/>
                <a:cs typeface="DejaVu Sans"/>
              </a:rPr>
              <a:t>workforce actions</a:t>
            </a:r>
          </a:p>
        </p:txBody>
      </p:sp>
      <p:sp>
        <p:nvSpPr>
          <p:cNvPr id="24" name="Rectangle 23">
            <a:extLst>
              <a:ext uri="{FF2B5EF4-FFF2-40B4-BE49-F238E27FC236}">
                <a16:creationId xmlns:a16="http://schemas.microsoft.com/office/drawing/2014/main" id="{E01202AF-932A-4C7C-A4E9-00DC5AC66828}"/>
              </a:ext>
            </a:extLst>
          </p:cNvPr>
          <p:cNvSpPr>
            <a:spLocks noGrp="1"/>
          </p:cNvSpPr>
          <p:nvPr/>
        </p:nvSpPr>
        <p:spPr>
          <a:xfrm>
            <a:off x="533400" y="5286375"/>
            <a:ext cx="10858500" cy="381000"/>
          </a:xfrm>
          <a:prstGeom prst="rect">
            <a:avLst/>
          </a:prstGeom>
          <a:noFill/>
          <a:ln w="0">
            <a:noFill/>
          </a:ln>
        </p:spPr>
        <p:txBody>
          <a:bodyPr lIns="0" tIns="0" rIns="0" bIns="0" anchor="t">
            <a:noAutofit/>
          </a:bodyPr>
          <a:lstStyle>
            <a:defPPr>
              <a:defRPr sz="2100" b="1">
                <a:solidFill>
                  <a:srgbClr val="F4F8FF"/>
                </a:solidFill>
                <a:latin typeface="DejaVu Sans"/>
                <a:ea typeface="DejaVu Sans"/>
                <a:cs typeface="DejaVu Sans"/>
              </a:defRPr>
            </a:defPPr>
          </a:lstStyle>
          <a:p>
            <a:pPr>
              <a:defRPr sz="2100" b="1">
                <a:solidFill>
                  <a:srgbClr val="F4F8FF"/>
                </a:solidFill>
                <a:latin typeface="DejaVu Sans"/>
                <a:ea typeface="DejaVu Sans"/>
                <a:cs typeface="DejaVu Sans"/>
              </a:defRPr>
            </a:pPr>
            <a:r>
              <a:rPr sz="2100" b="1">
                <a:solidFill>
                  <a:srgbClr val="F4F8FF"/>
                </a:solidFill>
                <a:latin typeface="DejaVu Sans"/>
                <a:ea typeface="DejaVu Sans"/>
                <a:cs typeface="DejaVu Sans"/>
              </a:rPr>
              <a:t>STRATEGIC WORKFORCE DECISIONS</a:t>
            </a:r>
          </a:p>
        </p:txBody>
      </p:sp>
      <p:sp>
        <p:nvSpPr>
          <p:cNvPr id="25" name="Rectangle 24">
            <a:extLst>
              <a:ext uri="{FF2B5EF4-FFF2-40B4-BE49-F238E27FC236}">
                <a16:creationId xmlns:a16="http://schemas.microsoft.com/office/drawing/2014/main" id="{94AC04AE-F51F-4320-9072-FACF94C4CE0E}"/>
              </a:ext>
            </a:extLst>
          </p:cNvPr>
          <p:cNvSpPr>
            <a:spLocks noGrp="1"/>
          </p:cNvSpPr>
          <p:nvPr/>
        </p:nvSpPr>
        <p:spPr>
          <a:xfrm>
            <a:off x="533400" y="5781675"/>
            <a:ext cx="5191125" cy="581025"/>
          </a:xfrm>
          <a:prstGeom prst="rect">
            <a:avLst/>
          </a:prstGeom>
          <a:noFill/>
          <a:ln w="0">
            <a:noFill/>
          </a:ln>
        </p:spPr>
        <p:txBody>
          <a:bodyPr lIns="0" tIns="0" rIns="0" bIns="0" anchor="t">
            <a:noAutofit/>
          </a:bodyPr>
          <a:lstStyle>
            <a:defPPr>
              <a:defRPr sz="1725" b="0">
                <a:solidFill>
                  <a:srgbClr val="B7C5D8"/>
                </a:solidFill>
                <a:latin typeface="DejaVu Sans"/>
                <a:ea typeface="DejaVu Sans"/>
                <a:cs typeface="DejaVu Sans"/>
              </a:defRPr>
            </a:defPPr>
          </a:lstStyle>
          <a:p>
            <a:pPr>
              <a:defRPr sz="1725" b="0">
                <a:solidFill>
                  <a:srgbClr val="B7C5D8"/>
                </a:solidFill>
                <a:latin typeface="DejaVu Sans"/>
                <a:ea typeface="DejaVu Sans"/>
                <a:cs typeface="DejaVu Sans"/>
              </a:defRPr>
            </a:pPr>
            <a:r>
              <a:rPr sz="1725" b="0">
                <a:solidFill>
                  <a:srgbClr val="B7C5D8"/>
                </a:solidFill>
                <a:latin typeface="DejaVu Sans"/>
                <a:ea typeface="DejaVu Sans"/>
                <a:cs typeface="DejaVu Sans"/>
              </a:rPr>
              <a:t>Upskill where gaps persist.</a:t>
            </a:r>
          </a:p>
          <a:p>
            <a:pPr>
              <a:defRPr sz="1725" b="0">
                <a:solidFill>
                  <a:srgbClr val="B7C5D8"/>
                </a:solidFill>
                <a:latin typeface="DejaVu Sans"/>
                <a:ea typeface="DejaVu Sans"/>
                <a:cs typeface="DejaVu Sans"/>
              </a:defRPr>
            </a:pPr>
            <a:r>
              <a:rPr sz="1725" b="0">
                <a:solidFill>
                  <a:srgbClr val="B7C5D8"/>
                </a:solidFill>
                <a:latin typeface="DejaVu Sans"/>
                <a:ea typeface="DejaVu Sans"/>
                <a:cs typeface="DejaVu Sans"/>
              </a:rPr>
              <a:t>Deploy where capacity allows.</a:t>
            </a:r>
          </a:p>
        </p:txBody>
      </p:sp>
      <p:sp>
        <p:nvSpPr>
          <p:cNvPr id="26" name="Rectangle 25">
            <a:extLst>
              <a:ext uri="{FF2B5EF4-FFF2-40B4-BE49-F238E27FC236}">
                <a16:creationId xmlns:a16="http://schemas.microsoft.com/office/drawing/2014/main" id="{5B9EB517-30F0-4D96-822B-D8288E730AE0}"/>
              </a:ext>
            </a:extLst>
          </p:cNvPr>
          <p:cNvSpPr>
            <a:spLocks noGrp="1"/>
          </p:cNvSpPr>
          <p:nvPr/>
        </p:nvSpPr>
        <p:spPr>
          <a:xfrm>
            <a:off x="6286500" y="5781675"/>
            <a:ext cx="5381625" cy="581025"/>
          </a:xfrm>
          <a:prstGeom prst="rect">
            <a:avLst/>
          </a:prstGeom>
          <a:noFill/>
          <a:ln w="0">
            <a:noFill/>
          </a:ln>
        </p:spPr>
        <p:txBody>
          <a:bodyPr lIns="0" tIns="0" rIns="0" bIns="0" anchor="t">
            <a:noAutofit/>
          </a:bodyPr>
          <a:lstStyle>
            <a:defPPr>
              <a:defRPr sz="1725" b="0">
                <a:solidFill>
                  <a:srgbClr val="B7C5D8"/>
                </a:solidFill>
                <a:latin typeface="DejaVu Sans"/>
                <a:ea typeface="DejaVu Sans"/>
                <a:cs typeface="DejaVu Sans"/>
              </a:defRPr>
            </a:defPPr>
          </a:lstStyle>
          <a:p>
            <a:pPr>
              <a:defRPr sz="1725" b="0">
                <a:solidFill>
                  <a:srgbClr val="B7C5D8"/>
                </a:solidFill>
                <a:latin typeface="DejaVu Sans"/>
                <a:ea typeface="DejaVu Sans"/>
                <a:cs typeface="DejaVu Sans"/>
              </a:defRPr>
            </a:pPr>
            <a:r>
              <a:rPr sz="1725" b="0">
                <a:solidFill>
                  <a:srgbClr val="B7C5D8"/>
                </a:solidFill>
                <a:latin typeface="DejaVu Sans"/>
                <a:ea typeface="DejaVu Sans"/>
                <a:cs typeface="DejaVu Sans"/>
              </a:rPr>
              <a:t>Recognise evidenced contribution.</a:t>
            </a:r>
          </a:p>
          <a:p>
            <a:pPr>
              <a:defRPr sz="1725" b="0">
                <a:solidFill>
                  <a:srgbClr val="B7C5D8"/>
                </a:solidFill>
                <a:latin typeface="DejaVu Sans"/>
                <a:ea typeface="DejaVu Sans"/>
                <a:cs typeface="DejaVu Sans"/>
              </a:defRPr>
            </a:pPr>
            <a:r>
              <a:rPr sz="1725" b="0">
                <a:solidFill>
                  <a:srgbClr val="B7C5D8"/>
                </a:solidFill>
                <a:latin typeface="DejaVu Sans"/>
                <a:ea typeface="DejaVu Sans"/>
                <a:cs typeface="DejaVu Sans"/>
              </a:rPr>
              <a:t>Review validated benefits before scaling.</a:t>
            </a:r>
          </a:p>
        </p:txBody>
      </p:sp>
      <p:sp>
        <p:nvSpPr>
          <p:cNvPr id="27" name="Rectangle 26">
            <a:extLst>
              <a:ext uri="{FF2B5EF4-FFF2-40B4-BE49-F238E27FC236}">
                <a16:creationId xmlns:a16="http://schemas.microsoft.com/office/drawing/2014/main" id="{23CB5B15-476F-4E61-A627-13BCB0F2B493}"/>
              </a:ext>
            </a:extLst>
          </p:cNvPr>
          <p:cNvSpPr>
            <a:spLocks noGrp="1"/>
          </p:cNvSpPr>
          <p:nvPr/>
        </p:nvSpPr>
        <p:spPr>
          <a:xfrm>
            <a:off x="533400" y="6515100"/>
            <a:ext cx="6667500" cy="219075"/>
          </a:xfrm>
          <a:prstGeom prst="rect">
            <a:avLst/>
          </a:prstGeom>
          <a:noFill/>
          <a:ln w="0">
            <a:noFill/>
          </a:ln>
        </p:spPr>
        <p:txBody>
          <a:bodyPr lIns="0" tIns="0" rIns="0" bIns="0" anchor="t">
            <a:noAutofit/>
          </a:bodyPr>
          <a:lstStyle>
            <a:defPPr>
              <a:defRPr sz="1125" b="0">
                <a:solidFill>
                  <a:srgbClr val="B7C5D8"/>
                </a:solidFill>
                <a:latin typeface="DejaVu Sans"/>
                <a:ea typeface="DejaVu Sans"/>
                <a:cs typeface="DejaVu Sans"/>
              </a:defRPr>
            </a:defPPr>
          </a:lstStyle>
          <a:p>
            <a:pPr>
              <a:defRPr sz="1125" b="0">
                <a:solidFill>
                  <a:srgbClr val="B7C5D8"/>
                </a:solidFill>
                <a:latin typeface="DejaVu Sans"/>
                <a:ea typeface="DejaVu Sans"/>
                <a:cs typeface="DejaVu Sans"/>
              </a:defRPr>
            </a:pPr>
            <a:r>
              <a:rPr sz="1125" b="0">
                <a:solidFill>
                  <a:srgbClr val="B7C5D8"/>
                </a:solidFill>
                <a:latin typeface="DejaVu Sans"/>
                <a:ea typeface="DejaVu Sans"/>
                <a:cs typeface="DejaVu Sans"/>
              </a:rPr>
              <a:t>Powered by IT as a Service (ITaaS), GITD</a:t>
            </a:r>
          </a:p>
        </p:txBody>
      </p:sp>
    </p:spTree>
    <p:extLst>
      <p:ext uri="{BB962C8B-B14F-4D97-AF65-F5344CB8AC3E}">
        <p14:creationId xmlns:p14="http://schemas.microsoft.com/office/powerpoint/2010/main" val="1592586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22F72-49D4-91B6-427D-CB1C77E478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1B91E7-15C2-B651-10D3-A5E46EDF9A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51430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B38C0-6EC6-1CAE-8433-3B796A61B9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6AB1A70-E40C-8522-2EA6-D7BE5EF8F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438579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511</Words>
  <Application>Microsoft Office PowerPoint</Application>
  <DocSecurity>0</DocSecurity>
  <PresentationFormat>Widescreen</PresentationFormat>
  <Paragraphs>81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Ts. Soo Chern Tien</cp:lastModifiedBy>
  <cp:revision>1</cp:revision>
  <dcterms:created xsi:type="dcterms:W3CDTF">2026-10-11T13:18:15Z</dcterms:created>
  <dcterms:modified xsi:type="dcterms:W3CDTF">2026-10-11T15:34:11Z</dcterms:modified>
</cp:coreProperties>
</file>